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14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4B5563"/>
                </a:solidFill>
                <a:latin typeface="Segoe UI"/>
              </a:rPr>
              <a:t>GreenLight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13232"/>
            <a:ext cx="105091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656C7A"/>
                </a:solidFill>
                <a:latin typeface="Segoe UI"/>
              </a:rPr>
              <a:t>H E A R T F O R G E  2 0 2 6    ·    B I S T E C  G L O B A 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97280"/>
            <a:ext cx="1050919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111827"/>
                </a:solidFill>
                <a:latin typeface="Segoe UI"/>
              </a:rPr>
              <a:t>GreenLight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50008"/>
            <a:ext cx="5254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374151"/>
                </a:solidFill>
                <a:latin typeface="Segoe UI"/>
              </a:rPr>
              <a:t>Approvals that arrive ready to approve.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191256"/>
            <a:ext cx="6515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374151"/>
                </a:solidFill>
                <a:latin typeface="Segoe UI"/>
              </a:rPr>
              <a:t>Every software request in the company lands on one desk as an email. </a:t>
            </a:r>
            <a:r>
              <a:rPr sz="1300" b="0" i="0">
                <a:solidFill>
                  <a:srgbClr val="374151"/>
                </a:solidFill>
                <a:latin typeface="Segoe UI"/>
              </a:rPr>
              <a:t>GreenLight reads it, answers what can be answered, and hands a person a finished dossier. </a:t>
            </a:r>
            <a:r>
              <a:rPr sz="1300" b="1" i="0">
                <a:solidFill>
                  <a:srgbClr val="111827"/>
                </a:solidFill>
                <a:latin typeface="Segoe UI"/>
              </a:rPr>
              <a:t>It never approves anything.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032504"/>
            <a:ext cx="3368954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178808"/>
            <a:ext cx="2966618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The recurring task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Researching a vendor by hand, two to three hours per tool, every week.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1370" y="4032504"/>
            <a:ext cx="3368954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2538" y="4178808"/>
            <a:ext cx="2966618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Built with Claude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Two Skills and an MCP server. No API key needed — a subscription is enough.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1492" y="4032504"/>
            <a:ext cx="3368954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2660" y="4178808"/>
            <a:ext cx="2966618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Applies to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All departments raise requests. Operations decides.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897880"/>
            <a:ext cx="105091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</a:pPr>
            <a:r>
              <a:rPr sz="850" b="0" i="0">
                <a:solidFill>
                  <a:srgbClr val="656C7A"/>
                </a:solidFill>
                <a:latin typeface="Segoe UI"/>
              </a:rPr>
              <a:t>Lakshitha  ·  greenlight-umber.vercel.app  ·  github.com/lakshitha-dev/greenlight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14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4B5563"/>
                </a:solidFill>
                <a:latin typeface="Segoe UI"/>
              </a:rPr>
              <a:t>GreenLight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13232"/>
            <a:ext cx="105091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656C7A"/>
                </a:solidFill>
                <a:latin typeface="Segoe UI"/>
              </a:rPr>
              <a:t>T O D A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97280"/>
            <a:ext cx="1050919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11827"/>
                </a:solidFill>
                <a:latin typeface="Segoe UI"/>
              </a:rPr>
              <a:t>Every software request in the company lands on one desk.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810512"/>
            <a:ext cx="3368954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956816"/>
            <a:ext cx="296661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It waits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Every operational request needs IT sign-off. They queue.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1370" y="1810512"/>
            <a:ext cx="3368954" cy="1371600"/>
          </a:xfrm>
          <a:prstGeom prst="roundRect">
            <a:avLst>
              <a:gd name="adj" fmla="val 6000"/>
            </a:avLst>
          </a:prstGeom>
          <a:solidFill>
            <a:srgbClr val="FDF2E7"/>
          </a:solidFill>
          <a:ln w="12700">
            <a:solidFill>
              <a:srgbClr val="F0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2538" y="1956816"/>
            <a:ext cx="296661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It's unusable when opened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No justification, no security answer, no cost, no legal position.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81492" y="1810512"/>
            <a:ext cx="3368954" cy="1371600"/>
          </a:xfrm>
          <a:prstGeom prst="roundRect">
            <a:avLst>
              <a:gd name="adj" fmla="val 6000"/>
            </a:avLst>
          </a:prstGeom>
          <a:solidFill>
            <a:srgbClr val="FDECEB"/>
          </a:solidFill>
          <a:ln w="12700">
            <a:solidFill>
              <a:srgbClr val="F2B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2660" y="1956816"/>
            <a:ext cx="296661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The approver becomes the researcher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Two to three hours of vendor research, per tool, by hand.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419856"/>
            <a:ext cx="903791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8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"/>
              </a:rPr>
              <a:t>Nobody did anything wrong.</a:t>
            </a:r>
            <a:r>
              <a:rPr sz="1300" b="0" i="0">
                <a:solidFill>
                  <a:srgbClr val="374151"/>
                </a:solidFill>
                <a:latin typeface="Segoe UI"/>
              </a:rPr>
              <a:t> The requester didn't know what to include. The approver wasn't slow — they were buried.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897880"/>
            <a:ext cx="105091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</a:pPr>
            <a:r>
              <a:rPr sz="850" b="0" i="0">
                <a:solidFill>
                  <a:srgbClr val="656C7A"/>
                </a:solidFill>
                <a:latin typeface="Segoe UI"/>
              </a:rPr>
              <a:t>Elapsed time is an estimate and is marked as one throughout. The missing-justification case is real: it happened to an ISO approval last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14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4B5563"/>
                </a:solidFill>
                <a:latin typeface="Segoe UI"/>
              </a:rPr>
              <a:t>GreenLight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13232"/>
            <a:ext cx="105091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656C7A"/>
                </a:solidFill>
                <a:latin typeface="Segoe UI"/>
              </a:rPr>
              <a:t>W H E R E  I T  S T A R T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97280"/>
            <a:ext cx="1050919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11827"/>
                </a:solidFill>
                <a:latin typeface="Segoe UI"/>
              </a:rPr>
              <a:t>The request is an email. So GreenLight reads email.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10512"/>
            <a:ext cx="7566623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374151"/>
                </a:solidFill>
                <a:latin typeface="Segoe UI"/>
              </a:rPr>
              <a:t>Nobody at BISTEC fills in a form. They write to the Head of Operations — which meant someone still had to read the message and retype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51760"/>
            <a:ext cx="5154015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798064"/>
            <a:ext cx="475167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What arrives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950" b="0" i="0">
                <a:solidFill>
                  <a:srgbClr val="4B5563"/>
                </a:solidFill>
                <a:latin typeface="Consolas"/>
              </a:rPr>
              <a:t>Could we get Canva Pro for the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950" b="0" i="0">
                <a:solidFill>
                  <a:srgbClr val="4B5563"/>
                </a:solidFill>
                <a:latin typeface="Consolas"/>
              </a:rPr>
              <a:t>marketing team? There are 6 of us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950" b="0" i="0">
                <a:solidFill>
                  <a:srgbClr val="4B5563"/>
                </a:solidFill>
                <a:latin typeface="Consolas"/>
              </a:rPr>
              <a:t>and we are rebuilding the case-study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950" b="0" i="0">
                <a:solidFill>
                  <a:srgbClr val="4B5563"/>
                </a:solidFill>
                <a:latin typeface="Consolas"/>
              </a:rPr>
              <a:t>templates.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525"/>
              <a:t> 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950" b="0" i="0">
                <a:solidFill>
                  <a:srgbClr val="4B5563"/>
                </a:solidFill>
                <a:latin typeface="Consolas"/>
              </a:rPr>
              <a:t>Thanks,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950" b="0" i="0">
                <a:solidFill>
                  <a:srgbClr val="4B5563"/>
                </a:solidFill>
                <a:latin typeface="Consolas"/>
              </a:rPr>
              <a:t>Marketing Lead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6431" y="2651760"/>
            <a:ext cx="5154015" cy="1965960"/>
          </a:xfrm>
          <a:prstGeom prst="roundRect">
            <a:avLst>
              <a:gd name="adj" fmla="val 6000"/>
            </a:avLst>
          </a:prstGeom>
          <a:solidFill>
            <a:srgbClr val="E7F5EA"/>
          </a:solidFill>
          <a:ln w="12700">
            <a:solidFill>
              <a:srgbClr val="A8D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2798064"/>
            <a:ext cx="475167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What GreenLight files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525"/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7599" y="3218688"/>
            <a:ext cx="4751679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200"/>
              </a:spcAft>
            </a:pPr>
            <a:r>
              <a:rPr sz="950" b="0" i="0">
                <a:solidFill>
                  <a:srgbClr val="656C7A"/>
                </a:solidFill>
                <a:latin typeface="Consolas"/>
              </a:rPr>
              <a:t>Software   </a:t>
            </a:r>
            <a:r>
              <a:rPr sz="1100" b="0" i="0">
                <a:solidFill>
                  <a:srgbClr val="374151"/>
                </a:solidFill>
                <a:latin typeface="Segoe UI"/>
              </a:rPr>
              <a:t>Canva Pro</a:t>
            </a:r>
          </a:p>
          <a:p>
            <a:pPr>
              <a:lnSpc>
                <a:spcPct val="150000"/>
              </a:lnSpc>
              <a:spcAft>
                <a:spcPts val="200"/>
              </a:spcAft>
            </a:pPr>
            <a:r>
              <a:rPr sz="950" b="0" i="0">
                <a:solidFill>
                  <a:srgbClr val="656C7A"/>
                </a:solidFill>
                <a:latin typeface="Consolas"/>
              </a:rPr>
              <a:t>Seats   </a:t>
            </a:r>
            <a:r>
              <a:rPr sz="1100" b="0" i="0">
                <a:solidFill>
                  <a:srgbClr val="374151"/>
                </a:solidFill>
                <a:latin typeface="Segoe UI"/>
              </a:rPr>
              <a:t>6</a:t>
            </a:r>
          </a:p>
          <a:p>
            <a:pPr>
              <a:lnSpc>
                <a:spcPct val="150000"/>
              </a:lnSpc>
              <a:spcAft>
                <a:spcPts val="200"/>
              </a:spcAft>
            </a:pPr>
            <a:r>
              <a:rPr sz="950" b="0" i="0">
                <a:solidFill>
                  <a:srgbClr val="656C7A"/>
                </a:solidFill>
                <a:latin typeface="Consolas"/>
              </a:rPr>
              <a:t>Team   </a:t>
            </a:r>
            <a:r>
              <a:rPr sz="1100" b="0" i="0">
                <a:solidFill>
                  <a:srgbClr val="374151"/>
                </a:solidFill>
                <a:latin typeface="Segoe UI"/>
              </a:rPr>
              <a:t>Marketing</a:t>
            </a:r>
          </a:p>
          <a:p>
            <a:pPr>
              <a:lnSpc>
                <a:spcPct val="150000"/>
              </a:lnSpc>
              <a:spcAft>
                <a:spcPts val="200"/>
              </a:spcAft>
            </a:pPr>
            <a:r>
              <a:rPr sz="950" b="0" i="0">
                <a:solidFill>
                  <a:srgbClr val="656C7A"/>
                </a:solidFill>
                <a:latin typeface="Consolas"/>
              </a:rPr>
              <a:t>For   </a:t>
            </a:r>
            <a:r>
              <a:rPr sz="1100" b="0" i="0">
                <a:solidFill>
                  <a:srgbClr val="374151"/>
                </a:solidFill>
                <a:latin typeface="Segoe UI"/>
              </a:rPr>
              <a:t>Rebuilding case-study templates</a:t>
            </a:r>
          </a:p>
          <a:p>
            <a:pPr>
              <a:lnSpc>
                <a:spcPct val="150000"/>
              </a:lnSpc>
              <a:spcAft>
                <a:spcPts val="200"/>
              </a:spcAft>
            </a:pPr>
            <a:r>
              <a:rPr sz="950" b="0" i="0">
                <a:solidFill>
                  <a:srgbClr val="656C7A"/>
                </a:solidFill>
                <a:latin typeface="Consolas"/>
              </a:rPr>
              <a:t>Personal data   </a:t>
            </a:r>
            <a:r>
              <a:rPr sz="1100" b="1" i="0">
                <a:solidFill>
                  <a:srgbClr val="B54708"/>
                </a:solidFill>
                <a:latin typeface="Segoe UI"/>
              </a:rPr>
              <a:t>not stated</a:t>
            </a:r>
          </a:p>
          <a:p>
            <a:pPr>
              <a:lnSpc>
                <a:spcPct val="150000"/>
              </a:lnSpc>
              <a:spcAft>
                <a:spcPts val="200"/>
              </a:spcAft>
            </a:pPr>
            <a:r>
              <a:rPr sz="550"/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855464"/>
            <a:ext cx="9037911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8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"/>
              </a:rPr>
              <a:t>That last line is the whole point.</a:t>
            </a:r>
            <a:r>
              <a:rPr sz="1300" b="0" i="0">
                <a:solidFill>
                  <a:srgbClr val="374151"/>
                </a:solidFill>
                <a:latin typeface="Segoe UI"/>
              </a:rPr>
              <a:t> Whether anyone's personal data goes in decides whether a privacy assessment is legally required. </a:t>
            </a:r>
            <a:r>
              <a:rPr sz="1300" b="0" i="0">
                <a:solidFill>
                  <a:srgbClr val="374151"/>
                </a:solidFill>
                <a:latin typeface="Segoe UI"/>
              </a:rPr>
              <a:t>The email does not mention the subject — and </a:t>
            </a:r>
            <a:r>
              <a:rPr sz="1300" b="1" i="0">
                <a:solidFill>
                  <a:srgbClr val="111827"/>
                </a:solidFill>
                <a:latin typeface="Segoe UI"/>
              </a:rPr>
              <a:t>silence is not a no</a:t>
            </a:r>
            <a:r>
              <a:rPr sz="1300" b="0" i="0">
                <a:solidFill>
                  <a:srgbClr val="374151"/>
                </a:solidFill>
                <a:latin typeface="Segoe UI"/>
              </a:rPr>
              <a:t>. So GreenLight writes the question instead of assuming, and a person sends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897880"/>
            <a:ext cx="105091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</a:pPr>
            <a:r>
              <a:rPr sz="850" b="0" i="0">
                <a:solidFill>
                  <a:srgbClr val="656C7A"/>
                </a:solidFill>
                <a:latin typeface="Segoe UI"/>
              </a:rPr>
              <a:t>Two ways in: paste the message, or let a Power Automate rule in Outlook post it. Both land on the same code. The Power Automate HTTP action is a premium connector, so the paste route is the one that needs nothing.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14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4B5563"/>
                </a:solidFill>
                <a:latin typeface="Segoe UI"/>
              </a:rPr>
              <a:t>GreenLight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13232"/>
            <a:ext cx="105091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656C7A"/>
                </a:solidFill>
                <a:latin typeface="Segoe UI"/>
              </a:rPr>
              <a:t>T H E  P A R T  A  S E C U R I T Y  L E A D  A S K S  A B O U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97280"/>
            <a:ext cx="1050919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11827"/>
                </a:solidFill>
                <a:latin typeface="Segoe UI"/>
              </a:rPr>
              <a:t>An inbox is the one input anyone can write 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10512"/>
            <a:ext cx="7566623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374151"/>
                </a:solidFill>
                <a:latin typeface="Segoe UI"/>
              </a:rPr>
              <a:t>Everything else GreenLight reads came from a signed-in colleague or a source it chose to call. An email is neither — so it is treated as data, never as instruction.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51760"/>
            <a:ext cx="3368954" cy="1828800"/>
          </a:xfrm>
          <a:prstGeom prst="roundRect">
            <a:avLst>
              <a:gd name="adj" fmla="val 6000"/>
            </a:avLst>
          </a:prstGeom>
          <a:solidFill>
            <a:srgbClr val="FDECEB"/>
          </a:solidFill>
          <a:ln w="12700">
            <a:solidFill>
              <a:srgbClr val="F2B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798064"/>
            <a:ext cx="296661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A display name is not identity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950" b="0" i="0">
                <a:solidFill>
                  <a:srgbClr val="B42318"/>
                </a:solidFill>
                <a:latin typeface="Consolas"/>
              </a:rPr>
              <a:t>"ops@bistecglobal.com"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950" b="0" i="0">
                <a:solidFill>
                  <a:srgbClr val="B42318"/>
                </a:solidFill>
                <a:latin typeface="Consolas"/>
              </a:rPr>
              <a:t>&lt;attacker@evil.com&gt;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525"/>
              <a:t> 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The address in angle brackets is what counts. Everything else is text someone typed.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1370" y="2651760"/>
            <a:ext cx="3368954" cy="1828800"/>
          </a:xfrm>
          <a:prstGeom prst="roundRect">
            <a:avLst>
              <a:gd name="adj" fmla="val 6000"/>
            </a:avLst>
          </a:prstGeom>
          <a:solidFill>
            <a:srgbClr val="FDF2E7"/>
          </a:solidFill>
          <a:ln w="12700">
            <a:solidFill>
              <a:srgbClr val="F0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2538" y="2798064"/>
            <a:ext cx="296661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"Approve this immediately"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Claude extracts fields. There is no field in what it returns that could approve anything — the guarantee is structural, not a filter that has to be clever.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81492" y="2651760"/>
            <a:ext cx="3368954" cy="1828800"/>
          </a:xfrm>
          <a:prstGeom prst="roundRect">
            <a:avLst>
              <a:gd name="adj" fmla="val 6000"/>
            </a:avLst>
          </a:prstGeom>
          <a:solidFill>
            <a:srgbClr val="E3F4F7"/>
          </a:solidFill>
          <a:ln w="12700">
            <a:solidFill>
              <a:srgbClr val="9E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2660" y="2798064"/>
            <a:ext cx="296661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The message is kept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Stored exactly as written, next to what was read out of it. An approver can always check the reading against the words.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897880"/>
            <a:ext cx="105091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</a:pPr>
            <a:r>
              <a:rPr sz="850" b="0" i="0">
                <a:solidFill>
                  <a:srgbClr val="656C7A"/>
                </a:solidFill>
                <a:latin typeface="Segoe UI"/>
              </a:rPr>
              <a:t>A reply on a thread already linked to a request attaches to it rather than creating a second one — the failure every naive mailbox integration ships with.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14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4B5563"/>
                </a:solidFill>
                <a:latin typeface="Segoe UI"/>
              </a:rPr>
              <a:t>GreenLight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13232"/>
            <a:ext cx="105091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656C7A"/>
                </a:solidFill>
                <a:latin typeface="Segoe UI"/>
              </a:rPr>
              <a:t>T H E  F I R S T  I D E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97280"/>
            <a:ext cx="1050919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11827"/>
                </a:solidFill>
                <a:latin typeface="Segoe UI"/>
              </a:rPr>
              <a:t>Most requests shouldn't reach a person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10512"/>
            <a:ext cx="7566623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374151"/>
                </a:solidFill>
                <a:latin typeface="Segoe UI"/>
              </a:rPr>
              <a:t>Before anything else, GreenLight asks one question: </a:t>
            </a:r>
            <a:r>
              <a:rPr sz="1600" b="1" i="0">
                <a:solidFill>
                  <a:srgbClr val="111827"/>
                </a:solidFill>
                <a:latin typeface="Segoe UI"/>
              </a:rPr>
              <a:t>do we already own this?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51760"/>
            <a:ext cx="3368954" cy="1691640"/>
          </a:xfrm>
          <a:prstGeom prst="roundRect">
            <a:avLst>
              <a:gd name="adj" fmla="val 6000"/>
            </a:avLst>
          </a:prstGeom>
          <a:solidFill>
            <a:srgbClr val="E7F5EA"/>
          </a:solidFill>
          <a:ln w="12700">
            <a:solidFill>
              <a:srgbClr val="A8D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798064"/>
            <a:ext cx="296661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2700" b="1" i="0">
                <a:solidFill>
                  <a:srgbClr val="1E7A32"/>
                </a:solidFill>
                <a:latin typeface="Consolas"/>
              </a:rPr>
              <a:t>Nobody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We own it and a licence is spare. Access in seconds, logged. No approver.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1370" y="2651760"/>
            <a:ext cx="3368954" cy="1691640"/>
          </a:xfrm>
          <a:prstGeom prst="roundRect">
            <a:avLst>
              <a:gd name="adj" fmla="val 6000"/>
            </a:avLst>
          </a:prstGeom>
          <a:solidFill>
            <a:srgbClr val="E3F4F7"/>
          </a:solidFill>
          <a:ln w="12700">
            <a:solidFill>
              <a:srgbClr val="9E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2538" y="2798064"/>
            <a:ext cx="296661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2700" b="1" i="0">
                <a:solidFill>
                  <a:srgbClr val="00707F"/>
                </a:solidFill>
                <a:latin typeface="Consolas"/>
              </a:rPr>
              <a:t>Finance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We own it, no spare seat. A purchase, not a security question — so it never reaches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81492" y="2651760"/>
            <a:ext cx="3368954" cy="1691640"/>
          </a:xfrm>
          <a:prstGeom prst="roundRect">
            <a:avLst>
              <a:gd name="adj" fmla="val 6000"/>
            </a:avLst>
          </a:prstGeom>
          <a:solidFill>
            <a:srgbClr val="FDF2E7"/>
          </a:solidFill>
          <a:ln w="12700">
            <a:solidFill>
              <a:srgbClr val="F0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2660" y="2798064"/>
            <a:ext cx="296661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2700" b="1" i="0">
                <a:solidFill>
                  <a:srgbClr val="B54708"/>
                </a:solidFill>
                <a:latin typeface="Consolas"/>
              </a:rPr>
              <a:t>IT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New to us, or the last answer has expired. This is the one worth attention.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897880"/>
            <a:ext cx="105091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</a:pPr>
            <a:r>
              <a:rPr sz="850" b="0" i="0">
                <a:solidFill>
                  <a:srgbClr val="656C7A"/>
                </a:solidFill>
                <a:latin typeface="Segoe UI"/>
              </a:rPr>
              <a:t>A catalog hit is not approval. An entry re-escalates when its review date passes, when it drifts out of a legal entity's scope, or when new exploited vulnerabilities appear after the approval. A catalog that never expires is just an allowlist.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14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4B5563"/>
                </a:solidFill>
                <a:latin typeface="Segoe UI"/>
              </a:rPr>
              <a:t>GreenLight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13232"/>
            <a:ext cx="105091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656C7A"/>
                </a:solidFill>
                <a:latin typeface="Segoe UI"/>
              </a:rPr>
              <a:t>W H A T  C L A U D E  D O E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97280"/>
            <a:ext cx="1050919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11827"/>
                </a:solidFill>
                <a:latin typeface="Segoe UI"/>
              </a:rPr>
              <a:t>The question no database can answer.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810512"/>
            <a:ext cx="5154015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956816"/>
            <a:ext cx="4751679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Machines answer this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4B5563"/>
                </a:solidFill>
                <a:latin typeface="Segoe UI"/>
              </a:rPr>
              <a:t>Is anyone attacking it right now? How many critical CVEs? What's the privacy grade?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525"/>
              <a:t> 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950" b="0" i="0">
                <a:solidFill>
                  <a:srgbClr val="4B5563"/>
                </a:solidFill>
                <a:latin typeface="Consolas"/>
              </a:rPr>
              <a:t>CISA KEV   ·   NIST NVD   ·   ToSDR   ·   OSV.dev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525"/>
              <a:t> 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1" i="0">
                <a:solidFill>
                  <a:srgbClr val="111827"/>
                </a:solidFill>
                <a:latin typeface="Segoe UI"/>
              </a:rPr>
              <a:t>Four sources, about one second.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6431" y="1810512"/>
            <a:ext cx="5154015" cy="2148840"/>
          </a:xfrm>
          <a:prstGeom prst="roundRect">
            <a:avLst>
              <a:gd name="adj" fmla="val 6000"/>
            </a:avLst>
          </a:prstGeom>
          <a:solidFill>
            <a:srgbClr val="E7F5EA"/>
          </a:solidFill>
          <a:ln w="12700">
            <a:solidFill>
              <a:srgbClr val="A8D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7599" y="1956816"/>
            <a:ext cx="4751679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Only Claude answers this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Does this vendor hold a current SOC 2? Is there a DPA? Where does our data actually go? Does SSO exist on the tier we're buying?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525"/>
              <a:t> 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1" i="0">
                <a:solidFill>
                  <a:srgbClr val="111827"/>
                </a:solidFill>
                <a:latin typeface="Segoe UI"/>
              </a:rPr>
              <a:t>There is no API for any of it.</a:t>
            </a:r>
            <a:r>
              <a:rPr sz="1050" b="0" i="0">
                <a:solidFill>
                  <a:srgbClr val="374151"/>
                </a:solidFill>
                <a:latin typeface="Segoe UI"/>
              </a:rPr>
              <a:t> It lives as prose on trust centres and legal pages, in a different shape for every vendor.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197096"/>
            <a:ext cx="903791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374151"/>
                </a:solidFill>
                <a:latin typeface="Segoe UI"/>
              </a:rPr>
              <a:t>Claude reads those pages and returns </a:t>
            </a:r>
            <a:r>
              <a:rPr sz="1300" b="1" i="0">
                <a:solidFill>
                  <a:srgbClr val="111827"/>
                </a:solidFill>
                <a:latin typeface="Segoe UI"/>
              </a:rPr>
              <a:t>typed facts with a source URL for each one</a:t>
            </a:r>
            <a:r>
              <a:rPr sz="1300" b="0" i="0">
                <a:solidFill>
                  <a:srgbClr val="374151"/>
                </a:solidFill>
                <a:latin typeface="Segoe UI"/>
              </a:rPr>
              <a:t> — and states plainly what it could not find.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14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4B5563"/>
                </a:solidFill>
                <a:latin typeface="Segoe UI"/>
              </a:rPr>
              <a:t>GreenLight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13232"/>
            <a:ext cx="105091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656C7A"/>
                </a:solidFill>
                <a:latin typeface="Segoe UI"/>
              </a:rPr>
              <a:t>T H E  R U L E  T H A T  M A K E S  I T  T R U S T W O R T H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97280"/>
            <a:ext cx="1050919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11827"/>
                </a:solidFill>
                <a:latin typeface="Segoe UI"/>
              </a:rPr>
              <a:t>Every fact carries where it came from.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810512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E7F5EA"/>
          </a:solidFill>
          <a:ln w="9525">
            <a:solidFill>
              <a:srgbClr val="A8D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900" b="1" i="0">
                <a:solidFill>
                  <a:srgbClr val="1E7A32"/>
                </a:solidFill>
                <a:latin typeface="Segoe UI"/>
              </a:rPr>
              <a:t>verified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75104" y="1796796"/>
            <a:ext cx="95033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374151"/>
                </a:solidFill>
                <a:latin typeface="Segoe UI"/>
              </a:rPr>
              <a:t>from a structured source anyone can re-query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2176272"/>
            <a:ext cx="928116" cy="256032"/>
          </a:xfrm>
          <a:prstGeom prst="roundRect">
            <a:avLst>
              <a:gd name="adj" fmla="val 50000"/>
            </a:avLst>
          </a:prstGeom>
          <a:solidFill>
            <a:srgbClr val="E3F4F7"/>
          </a:solidFill>
          <a:ln w="9525">
            <a:solidFill>
              <a:srgbClr val="9E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900" b="1" i="0">
                <a:solidFill>
                  <a:srgbClr val="00707F"/>
                </a:solidFill>
                <a:latin typeface="Segoe UI"/>
              </a:rPr>
              <a:t>sourced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97380" y="2162556"/>
            <a:ext cx="95810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374151"/>
                </a:solidFill>
                <a:latin typeface="Segoe UI"/>
              </a:rPr>
              <a:t>found on an identifiable page, URL kept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542032"/>
            <a:ext cx="928116" cy="256032"/>
          </a:xfrm>
          <a:prstGeom prst="roundRect">
            <a:avLst>
              <a:gd name="adj" fmla="val 50000"/>
            </a:avLst>
          </a:prstGeom>
          <a:solidFill>
            <a:srgbClr val="FDF2E7"/>
          </a:solidFill>
          <a:ln w="9525">
            <a:solidFill>
              <a:srgbClr val="F0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900" b="1" i="0">
                <a:solidFill>
                  <a:srgbClr val="B54708"/>
                </a:solidFill>
                <a:latin typeface="Segoe UI"/>
              </a:rPr>
              <a:t>claimed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7380" y="2528316"/>
            <a:ext cx="95810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374151"/>
                </a:solidFill>
                <a:latin typeface="Segoe UI"/>
              </a:rPr>
              <a:t>the vendor says so about itself, nothing confirms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907792"/>
            <a:ext cx="1083564" cy="256032"/>
          </a:xfrm>
          <a:prstGeom prst="roundRect">
            <a:avLst>
              <a:gd name="adj" fmla="val 50000"/>
            </a:avLst>
          </a:prstGeom>
          <a:solidFill>
            <a:srgbClr val="FDECEB"/>
          </a:solidFill>
          <a:ln w="9525">
            <a:solidFill>
              <a:srgbClr val="F2B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900" b="1" i="0">
                <a:solidFill>
                  <a:srgbClr val="B42318"/>
                </a:solidFill>
                <a:latin typeface="Segoe UI"/>
              </a:rPr>
              <a:t>not found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8" y="2894076"/>
            <a:ext cx="942563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374151"/>
                </a:solidFill>
                <a:latin typeface="Segoe UI"/>
              </a:rPr>
              <a:t>could not be established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575304"/>
            <a:ext cx="5154015" cy="1188720"/>
          </a:xfrm>
          <a:prstGeom prst="roundRect">
            <a:avLst>
              <a:gd name="adj" fmla="val 6000"/>
            </a:avLst>
          </a:prstGeom>
          <a:solidFill>
            <a:srgbClr val="FDECEB"/>
          </a:solidFill>
          <a:ln w="12700">
            <a:solidFill>
              <a:srgbClr val="F2B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3721608"/>
            <a:ext cx="47516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A vendor's word is not evidence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A </a:t>
            </a:r>
            <a:r>
              <a:rPr sz="1050" b="1" i="0">
                <a:solidFill>
                  <a:srgbClr val="111827"/>
                </a:solidFill>
                <a:latin typeface="Segoe UI"/>
              </a:rPr>
              <a:t>claimed</a:t>
            </a:r>
            <a:r>
              <a:rPr sz="1050" b="0" i="0">
                <a:solidFill>
                  <a:srgbClr val="374151"/>
                </a:solidFill>
                <a:latin typeface="Segoe UI"/>
              </a:rPr>
              <a:t> fact cannot satisfy a blocking requirement — however it arrived.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1" y="3575304"/>
            <a:ext cx="5154015" cy="1188720"/>
          </a:xfrm>
          <a:prstGeom prst="roundRect">
            <a:avLst>
              <a:gd name="adj" fmla="val 6000"/>
            </a:avLst>
          </a:prstGeom>
          <a:solidFill>
            <a:srgbClr val="E3F4F7"/>
          </a:solidFill>
          <a:ln w="12700">
            <a:solidFill>
              <a:srgbClr val="9E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7599" y="3721608"/>
            <a:ext cx="47516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Not found is a finding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A requirement that can't be evaluated returns </a:t>
            </a:r>
            <a:r>
              <a:rPr sz="1050" b="1" i="0">
                <a:solidFill>
                  <a:srgbClr val="111827"/>
                </a:solidFill>
                <a:latin typeface="Segoe UI"/>
              </a:rPr>
              <a:t>more information required</a:t>
            </a:r>
            <a:r>
              <a:rPr sz="1050" b="0" i="0">
                <a:solidFill>
                  <a:srgbClr val="374151"/>
                </a:solidFill>
                <a:latin typeface="Segoe UI"/>
              </a:rPr>
              <a:t>. Never a guess.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5897880"/>
            <a:ext cx="105091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</a:pPr>
            <a:r>
              <a:rPr sz="850" b="0" i="0">
                <a:solidFill>
                  <a:srgbClr val="656C7A"/>
                </a:solidFill>
                <a:latin typeface="Segoe UI"/>
              </a:rPr>
              <a:t>This is the failure mode that sinks AI tools: confident synthesis of things nobody verified. GreenLight is built so it structurally cannot happen.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14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4B5563"/>
                </a:solidFill>
                <a:latin typeface="Segoe UI"/>
              </a:rPr>
              <a:t>GreenLight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13232"/>
            <a:ext cx="105091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656C7A"/>
                </a:solidFill>
                <a:latin typeface="Segoe UI"/>
              </a:rPr>
              <a:t>P O L I C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97280"/>
            <a:ext cx="1050919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11827"/>
                </a:solidFill>
                <a:latin typeface="Segoe UI"/>
              </a:rPr>
              <a:t>The rules are a file Operations owns. Not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810512"/>
            <a:ext cx="515401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956816"/>
            <a:ext cx="47516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Software approval</a:t>
            </a:r>
            <a:r>
              <a:rPr sz="850" b="1" i="0">
                <a:solidFill>
                  <a:srgbClr val="4B5563"/>
                </a:solidFill>
                <a:latin typeface="Consolas"/>
              </a:rPr>
              <a:t>   BISTEC Global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950" b="0" i="0">
                <a:solidFill>
                  <a:srgbClr val="4B5563"/>
                </a:solidFill>
                <a:latin typeface="Consolas"/>
              </a:rPr>
              <a:t>software-approval@2.1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PDPA No. 9 of 2022. Eight requirements — SOC 2, DPA, residency, SSO, exploited CVEs.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6431" y="1810512"/>
            <a:ext cx="515401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7599" y="1956816"/>
            <a:ext cx="47516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ISO document approval</a:t>
            </a:r>
            <a:r>
              <a:rPr sz="850" b="1" i="0">
                <a:solidFill>
                  <a:srgbClr val="4B5563"/>
                </a:solidFill>
                <a:latin typeface="Consolas"/>
              </a:rPr>
              <a:t>   same engine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950" b="0" i="0">
                <a:solidFill>
                  <a:srgbClr val="4B5563"/>
                </a:solidFill>
                <a:latin typeface="Consolas"/>
              </a:rPr>
              <a:t>iso-document-approval@1.0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Nothing to research. Five requirements a person judges — and the engine cannot tell the difference.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602736"/>
            <a:ext cx="9037911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374151"/>
                </a:solidFill>
                <a:latin typeface="Segoe UI"/>
              </a:rPr>
              <a:t>Change a rule and </a:t>
            </a:r>
            <a:r>
              <a:rPr sz="1300" b="1" i="0">
                <a:solidFill>
                  <a:srgbClr val="111827"/>
                </a:solidFill>
                <a:latin typeface="Segoe UI"/>
              </a:rPr>
              <a:t>nothing is deployed</a:t>
            </a:r>
            <a:r>
              <a:rPr sz="1300" b="0" i="0">
                <a:solidFill>
                  <a:srgbClr val="374151"/>
                </a:solidFill>
                <a:latin typeface="Segoe UI"/>
              </a:rPr>
              <a:t> — you edit a YAML file and bump its version. Every decision is stamped with the version that governed it, so an auditor asking </a:t>
            </a:r>
            <a:r>
              <a:rPr sz="1300" b="0" i="1">
                <a:solidFill>
                  <a:srgbClr val="374151"/>
                </a:solidFill>
                <a:latin typeface="Segoe UI"/>
              </a:rPr>
              <a:t>"what were the rules in March?"</a:t>
            </a:r>
            <a:r>
              <a:rPr sz="1300" b="0" i="0">
                <a:solidFill>
                  <a:srgbClr val="374151"/>
                </a:solidFill>
                <a:latin typeface="Segoe UI"/>
              </a:rPr>
              <a:t> gets an answer rather than a git archaeology exercise.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897880"/>
            <a:ext cx="105091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</a:pPr>
            <a:r>
              <a:rPr sz="850" b="0" i="0">
                <a:solidFill>
                  <a:srgbClr val="656C7A"/>
                </a:solidFill>
                <a:latin typeface="Segoe UI"/>
              </a:rPr>
              <a:t>One legal entity today, and policy is keyed by entity — a second is another file, not a code change. Proven by a test: the engine evaluates a leave-approval pack that exists only inside the test file.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14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4B5563"/>
                </a:solidFill>
                <a:latin typeface="Segoe UI"/>
              </a:rPr>
              <a:t>GreenLight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13232"/>
            <a:ext cx="105091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656C7A"/>
                </a:solidFill>
                <a:latin typeface="Segoe UI"/>
              </a:rPr>
              <a:t>T H E  P A R T  I ' D  S H O W  A  S E C U R I T Y  L E A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97280"/>
            <a:ext cx="1050919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11827"/>
                </a:solidFill>
                <a:latin typeface="Segoe UI"/>
              </a:rPr>
              <a:t>Approvals expire. On their 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10512"/>
            <a:ext cx="10509199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200" b="0" i="0">
                <a:solidFill>
                  <a:srgbClr val="656C7A"/>
                </a:solidFill>
                <a:latin typeface="Consolas"/>
              </a:rPr>
              <a:t>→   </a:t>
            </a:r>
            <a:r>
              <a:rPr sz="1350" b="0" i="0">
                <a:solidFill>
                  <a:srgbClr val="374151"/>
                </a:solidFill>
                <a:latin typeface="Segoe UI"/>
              </a:rPr>
              <a:t>Slack was approved in November with a ten-month review interval.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200" b="0" i="0">
                <a:solidFill>
                  <a:srgbClr val="656C7A"/>
                </a:solidFill>
                <a:latin typeface="Consolas"/>
              </a:rPr>
              <a:t>→   </a:t>
            </a:r>
            <a:r>
              <a:rPr sz="1350" b="0" i="0">
                <a:solidFill>
                  <a:srgbClr val="374151"/>
                </a:solidFill>
                <a:latin typeface="Segoe UI"/>
              </a:rPr>
              <a:t>That interval </a:t>
            </a:r>
            <a:r>
              <a:rPr sz="1350" b="1" i="0">
                <a:solidFill>
                  <a:srgbClr val="111827"/>
                </a:solidFill>
                <a:latin typeface="Segoe UI"/>
              </a:rPr>
              <a:t>ran out today</a:t>
            </a:r>
            <a:r>
              <a:rPr sz="1350" b="0" i="0">
                <a:solidFill>
                  <a:srgbClr val="374151"/>
                </a:solidFill>
                <a:latin typeface="Segoe UI"/>
              </a:rPr>
              <a:t>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200" b="0" i="0">
                <a:solidFill>
                  <a:srgbClr val="656C7A"/>
                </a:solidFill>
                <a:latin typeface="Consolas"/>
              </a:rPr>
              <a:t>→   </a:t>
            </a:r>
            <a:r>
              <a:rPr sz="1350" b="0" i="0">
                <a:solidFill>
                  <a:srgbClr val="374151"/>
                </a:solidFill>
                <a:latin typeface="Segoe UI"/>
              </a:rPr>
              <a:t>So </a:t>
            </a:r>
            <a:r>
              <a:rPr sz="1150" b="0" i="0">
                <a:solidFill>
                  <a:srgbClr val="374151"/>
                </a:solidFill>
                <a:latin typeface="Consolas"/>
              </a:rPr>
              <a:t>slack.exe</a:t>
            </a:r>
            <a:r>
              <a:rPr sz="1350" b="0" i="0">
                <a:solidFill>
                  <a:srgbClr val="374151"/>
                </a:solidFill>
                <a:latin typeface="Segoe UI"/>
              </a:rPr>
              <a:t> </a:t>
            </a:r>
            <a:r>
              <a:rPr sz="1350" b="1" i="0">
                <a:solidFill>
                  <a:srgbClr val="B42318"/>
                </a:solidFill>
                <a:latin typeface="Segoe UI"/>
              </a:rPr>
              <a:t>dropped off the endpoint allow list by itself</a:t>
            </a:r>
            <a:r>
              <a:rPr sz="1350" b="0" i="0">
                <a:solidFill>
                  <a:srgbClr val="374151"/>
                </a:solidFill>
                <a:latin typeface="Segoe UI"/>
              </a:rPr>
              <a:t> — no ticket, no restart, nobody notified.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675"/>
              <a:t>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3127248"/>
            <a:ext cx="10509199" cy="960120"/>
          </a:xfrm>
          <a:prstGeom prst="roundRect">
            <a:avLst>
              <a:gd name="adj" fmla="val 6000"/>
            </a:avLst>
          </a:prstGeom>
          <a:solidFill>
            <a:srgbClr val="FDF2E7"/>
          </a:solidFill>
          <a:ln w="12700">
            <a:solidFill>
              <a:srgbClr val="F0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3273552"/>
            <a:ext cx="1010686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And Microsoft 365 is being watched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Six new actively-exploited vulnerabilities have been published </a:t>
            </a:r>
            <a:r>
              <a:rPr sz="1050" b="1" i="0">
                <a:solidFill>
                  <a:srgbClr val="111827"/>
                </a:solidFill>
                <a:latin typeface="Segoe UI"/>
              </a:rPr>
              <a:t>since it was approved</a:t>
            </a:r>
            <a:r>
              <a:rPr sz="1050" b="0" i="0">
                <a:solidFill>
                  <a:srgbClr val="374151"/>
                </a:solidFill>
                <a:latin typeface="Segoe UI"/>
              </a:rPr>
              <a:t>. It stops self-serving until someone looks again.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897880"/>
            <a:ext cx="105091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</a:pPr>
            <a:r>
              <a:rPr sz="850" b="0" i="0">
                <a:solidFill>
                  <a:srgbClr val="656C7A"/>
                </a:solidFill>
                <a:latin typeface="Segoe UI"/>
              </a:rPr>
              <a:t>The same validity rule governs both the approval queue and what endpoints are permitted to run, so policy and enforcement cannot disagree.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14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4B5563"/>
                </a:solidFill>
                <a:latin typeface="Segoe UI"/>
              </a:rPr>
              <a:t>GreenLight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13232"/>
            <a:ext cx="105091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656C7A"/>
                </a:solidFill>
                <a:latin typeface="Segoe UI"/>
              </a:rPr>
              <a:t>W H Y  T H E  Q U E U E  S H R I N K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97280"/>
            <a:ext cx="1050919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111827"/>
                </a:solidFill>
                <a:latin typeface="Segoe UI"/>
              </a:rPr>
              <a:t>Every decision made today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111827"/>
                </a:solidFill>
                <a:latin typeface="Segoe UI"/>
              </a:rPr>
              <a:t>is one that is never made again.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255264"/>
            <a:ext cx="6515703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374151"/>
                </a:solidFill>
                <a:latin typeface="Segoe UI"/>
              </a:rPr>
              <a:t>Approve something new and it joins the catalog. The next person who asks for it gets it in seconds, and the approver never sees the request.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897880"/>
            <a:ext cx="105091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</a:pPr>
            <a:r>
              <a:rPr sz="850" b="0" i="0">
                <a:solidFill>
                  <a:srgbClr val="656C7A"/>
                </a:solidFill>
                <a:latin typeface="Segoe UI"/>
              </a:rPr>
              <a:t>A person still decides — GreenLight never approves anything. What it removes is the research, the chasing, and every request that should never have been asked twice.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14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4B5563"/>
                </a:solidFill>
                <a:latin typeface="Segoe UI"/>
              </a:rPr>
              <a:t>GreenLight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13232"/>
            <a:ext cx="105091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656C7A"/>
                </a:solidFill>
                <a:latin typeface="Segoe UI"/>
              </a:rPr>
              <a:t>W H A T  I T ' S  W O R T 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97280"/>
            <a:ext cx="1050919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11827"/>
                </a:solidFill>
                <a:latin typeface="Segoe UI"/>
              </a:rPr>
              <a:t>Honestly, split in two.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810512"/>
            <a:ext cx="5154015" cy="2286000"/>
          </a:xfrm>
          <a:prstGeom prst="roundRect">
            <a:avLst>
              <a:gd name="adj" fmla="val 6000"/>
            </a:avLst>
          </a:prstGeom>
          <a:solidFill>
            <a:srgbClr val="E7F5EA"/>
          </a:solidFill>
          <a:ln w="12700">
            <a:solidFill>
              <a:srgbClr val="A8D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956816"/>
            <a:ext cx="47516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E7A32"/>
                </a:solidFill>
                <a:latin typeface="Segoe UI"/>
              </a:rPr>
              <a:t>Demonstrable today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525"/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2377440"/>
            <a:ext cx="47516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200"/>
              </a:spcAft>
            </a:pPr>
            <a:r>
              <a:rPr sz="950" b="0" i="0">
                <a:solidFill>
                  <a:srgbClr val="656C7A"/>
                </a:solidFill>
                <a:latin typeface="Consolas"/>
              </a:rPr>
              <a:t>·   </a:t>
            </a:r>
            <a:r>
              <a:rPr sz="1100" b="0" i="0">
                <a:solidFill>
                  <a:srgbClr val="374151"/>
                </a:solidFill>
                <a:latin typeface="Segoe UI"/>
              </a:rPr>
              <a:t>Exploited software caught </a:t>
            </a:r>
            <a:r>
              <a:rPr sz="1100" b="1" i="0">
                <a:solidFill>
                  <a:srgbClr val="111827"/>
                </a:solidFill>
                <a:latin typeface="Segoe UI"/>
              </a:rPr>
              <a:t>before</a:t>
            </a:r>
            <a:r>
              <a:rPr sz="1100" b="0" i="0">
                <a:solidFill>
                  <a:srgbClr val="374151"/>
                </a:solidFill>
                <a:latin typeface="Segoe UI"/>
              </a:rPr>
              <a:t> anyone installs it</a:t>
            </a:r>
          </a:p>
          <a:p>
            <a:pPr>
              <a:lnSpc>
                <a:spcPct val="150000"/>
              </a:lnSpc>
              <a:spcAft>
                <a:spcPts val="200"/>
              </a:spcAft>
            </a:pPr>
            <a:r>
              <a:rPr sz="950" b="0" i="0">
                <a:solidFill>
                  <a:srgbClr val="656C7A"/>
                </a:solidFill>
                <a:latin typeface="Consolas"/>
              </a:rPr>
              <a:t>·   </a:t>
            </a:r>
            <a:r>
              <a:rPr sz="1100" b="0" i="0">
                <a:solidFill>
                  <a:srgbClr val="374151"/>
                </a:solidFill>
                <a:latin typeface="Segoe UI"/>
              </a:rPr>
              <a:t>Approvals that revoke themselves when they expire</a:t>
            </a:r>
          </a:p>
          <a:p>
            <a:pPr>
              <a:lnSpc>
                <a:spcPct val="150000"/>
              </a:lnSpc>
              <a:spcAft>
                <a:spcPts val="200"/>
              </a:spcAft>
            </a:pPr>
            <a:r>
              <a:rPr sz="950" b="0" i="0">
                <a:solidFill>
                  <a:srgbClr val="656C7A"/>
                </a:solidFill>
                <a:latin typeface="Consolas"/>
              </a:rPr>
              <a:t>·   </a:t>
            </a:r>
            <a:r>
              <a:rPr sz="1100" b="0" i="0">
                <a:solidFill>
                  <a:srgbClr val="374151"/>
                </a:solidFill>
                <a:latin typeface="Segoe UI"/>
              </a:rPr>
              <a:t>Unapproved software found running on real machines</a:t>
            </a:r>
          </a:p>
          <a:p>
            <a:pPr>
              <a:lnSpc>
                <a:spcPct val="150000"/>
              </a:lnSpc>
              <a:spcAft>
                <a:spcPts val="200"/>
              </a:spcAft>
            </a:pPr>
            <a:r>
              <a:rPr sz="950" b="0" i="0">
                <a:solidFill>
                  <a:srgbClr val="656C7A"/>
                </a:solidFill>
                <a:latin typeface="Consolas"/>
              </a:rPr>
              <a:t>·   </a:t>
            </a:r>
            <a:r>
              <a:rPr sz="1100" b="0" i="0">
                <a:solidFill>
                  <a:srgbClr val="374151"/>
                </a:solidFill>
                <a:latin typeface="Segoe UI"/>
              </a:rPr>
              <a:t>An ISO audit trail that builds itself</a:t>
            </a:r>
          </a:p>
          <a:p>
            <a:pPr>
              <a:lnSpc>
                <a:spcPct val="150000"/>
              </a:lnSpc>
              <a:spcAft>
                <a:spcPts val="200"/>
              </a:spcAft>
            </a:pPr>
            <a:r>
              <a:rPr sz="950" b="0" i="0">
                <a:solidFill>
                  <a:srgbClr val="656C7A"/>
                </a:solidFill>
                <a:latin typeface="Consolas"/>
              </a:rPr>
              <a:t>·   </a:t>
            </a:r>
            <a:r>
              <a:rPr sz="1100" b="1" i="0">
                <a:solidFill>
                  <a:srgbClr val="111827"/>
                </a:solidFill>
                <a:latin typeface="Segoe UI"/>
              </a:rPr>
              <a:t>898 seats</a:t>
            </a:r>
            <a:r>
              <a:rPr sz="1100" b="0" i="0">
                <a:solidFill>
                  <a:srgbClr val="374151"/>
                </a:solidFill>
                <a:latin typeface="Segoe UI"/>
              </a:rPr>
              <a:t> tracked; the unused ones are money</a:t>
            </a:r>
          </a:p>
          <a:p>
            <a:pPr>
              <a:lnSpc>
                <a:spcPct val="150000"/>
              </a:lnSpc>
              <a:spcAft>
                <a:spcPts val="200"/>
              </a:spcAft>
            </a:pPr>
            <a:r>
              <a:rPr sz="550"/>
              <a:t> 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6431" y="1810512"/>
            <a:ext cx="5154015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956816"/>
            <a:ext cx="47516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B54708"/>
                </a:solidFill>
                <a:latin typeface="Segoe UI"/>
              </a:rPr>
              <a:t>Still to be measured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525"/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7599" y="2377440"/>
            <a:ext cx="47516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200"/>
              </a:spcAft>
            </a:pPr>
            <a:r>
              <a:rPr sz="950" b="0" i="0">
                <a:solidFill>
                  <a:srgbClr val="656C7A"/>
                </a:solidFill>
                <a:latin typeface="Consolas"/>
              </a:rPr>
              <a:t>1   </a:t>
            </a:r>
            <a:r>
              <a:rPr sz="1100" b="0" i="0">
                <a:solidFill>
                  <a:srgbClr val="374151"/>
                </a:solidFill>
                <a:latin typeface="Segoe UI"/>
              </a:rPr>
              <a:t>How many software requests arrive in a week?</a:t>
            </a:r>
          </a:p>
          <a:p>
            <a:pPr>
              <a:lnSpc>
                <a:spcPct val="150000"/>
              </a:lnSpc>
              <a:spcAft>
                <a:spcPts val="200"/>
              </a:spcAft>
            </a:pPr>
            <a:r>
              <a:rPr sz="950" b="0" i="0">
                <a:solidFill>
                  <a:srgbClr val="656C7A"/>
                </a:solidFill>
                <a:latin typeface="Consolas"/>
              </a:rPr>
              <a:t>2   </a:t>
            </a:r>
            <a:r>
              <a:rPr sz="1100" b="0" i="0">
                <a:solidFill>
                  <a:srgbClr val="374151"/>
                </a:solidFill>
                <a:latin typeface="Segoe UI"/>
              </a:rPr>
              <a:t>What share come back incomplete?</a:t>
            </a:r>
          </a:p>
          <a:p>
            <a:pPr>
              <a:lnSpc>
                <a:spcPct val="150000"/>
              </a:lnSpc>
              <a:spcAft>
                <a:spcPts val="200"/>
              </a:spcAft>
            </a:pPr>
            <a:r>
              <a:rPr sz="950" b="0" i="0">
                <a:solidFill>
                  <a:srgbClr val="656C7A"/>
                </a:solidFill>
                <a:latin typeface="Consolas"/>
              </a:rPr>
              <a:t>3   </a:t>
            </a:r>
            <a:r>
              <a:rPr sz="1100" b="0" i="0">
                <a:solidFill>
                  <a:srgbClr val="374151"/>
                </a:solidFill>
                <a:latin typeface="Segoe UI"/>
              </a:rPr>
              <a:t>How long does that round trip really take?</a:t>
            </a:r>
          </a:p>
          <a:p>
            <a:pPr>
              <a:lnSpc>
                <a:spcPct val="150000"/>
              </a:lnSpc>
              <a:spcAft>
                <a:spcPts val="200"/>
              </a:spcAft>
            </a:pPr>
            <a:r>
              <a:rPr sz="550"/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334256"/>
            <a:ext cx="903791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8000"/>
              </a:lnSpc>
              <a:spcAft>
                <a:spcPts val="0"/>
              </a:spcAft>
            </a:pPr>
            <a:r>
              <a:rPr sz="1200" b="0" i="0">
                <a:solidFill>
                  <a:srgbClr val="4B5563"/>
                </a:solidFill>
                <a:latin typeface="Segoe UI"/>
              </a:rPr>
              <a:t>Ten minutes with Operations turns the time savings from an estimate into evidence. Until then I'm presenting them as estimates.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14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4B5563"/>
                </a:solidFill>
                <a:latin typeface="Segoe UI"/>
              </a:rPr>
              <a:t>GreenLight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13232"/>
            <a:ext cx="105091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656C7A"/>
                </a:solidFill>
                <a:latin typeface="Segoe UI"/>
              </a:rPr>
              <a:t>I T ' S  N O T  A  M O C K U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97280"/>
            <a:ext cx="1050919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11827"/>
                </a:solidFill>
                <a:latin typeface="Segoe UI"/>
              </a:rPr>
              <a:t>Built to be used, not demonstrated.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810512"/>
            <a:ext cx="336895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956816"/>
            <a:ext cx="296661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2700" b="1" i="0">
                <a:solidFill>
                  <a:srgbClr val="111827"/>
                </a:solidFill>
                <a:latin typeface="Consolas"/>
              </a:rPr>
              <a:t>265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tests, weighted at the rules where a bug means a wrong approval. Three are regressions for defects that actually happened.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1370" y="1810512"/>
            <a:ext cx="336895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2538" y="1956816"/>
            <a:ext cx="296661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2700" b="1" i="0">
                <a:solidFill>
                  <a:srgbClr val="111827"/>
                </a:solidFill>
                <a:latin typeface="Consolas"/>
              </a:rPr>
              <a:t>4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live security sources, queried in about a second. No API key, no mock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81492" y="1810512"/>
            <a:ext cx="336895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2660" y="1956816"/>
            <a:ext cx="296661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2700" b="1" i="0">
                <a:solidFill>
                  <a:srgbClr val="111827"/>
                </a:solidFill>
                <a:latin typeface="Consolas"/>
              </a:rPr>
              <a:t>3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roles. A requester pressing Approve is refused and told why.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831336"/>
            <a:ext cx="5154015" cy="1051560"/>
          </a:xfrm>
          <a:prstGeom prst="roundRect">
            <a:avLst>
              <a:gd name="adj" fmla="val 6000"/>
            </a:avLst>
          </a:prstGeom>
          <a:solidFill>
            <a:srgbClr val="E3F4F7"/>
          </a:solidFill>
          <a:ln w="12700">
            <a:solidFill>
              <a:srgbClr val="9E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977640"/>
            <a:ext cx="47516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Deployed and running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Postgres, sign-in, CI on every push. Not a laptop demo.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6431" y="3831336"/>
            <a:ext cx="5154015" cy="1051560"/>
          </a:xfrm>
          <a:prstGeom prst="roundRect">
            <a:avLst>
              <a:gd name="adj" fmla="val 6000"/>
            </a:avLst>
          </a:prstGeom>
          <a:solidFill>
            <a:srgbClr val="E7F5EA"/>
          </a:solidFill>
          <a:ln w="12700">
            <a:solidFill>
              <a:srgbClr val="A8D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3977640"/>
            <a:ext cx="47516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200" b="1" i="0">
                <a:solidFill>
                  <a:srgbClr val="111827"/>
                </a:solidFill>
                <a:latin typeface="Segoe UI"/>
              </a:rPr>
              <a:t>Built with Claude</a:t>
            </a:r>
          </a:p>
          <a:p>
            <a:pPr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Segoe UI"/>
              </a:rPr>
              <a:t>Claude does the research the app can't. The Skill ships with it, so it runs on an ordinary subscription.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14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4B5563"/>
                </a:solidFill>
                <a:latin typeface="Segoe UI"/>
              </a:rPr>
              <a:t>GreenLight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13232"/>
            <a:ext cx="105091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950" b="1" i="0">
                <a:solidFill>
                  <a:srgbClr val="656C7A"/>
                </a:solidFill>
                <a:latin typeface="Segoe UI"/>
              </a:rPr>
              <a:t>G R E E N L I G H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97280"/>
            <a:ext cx="1050919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111827"/>
                </a:solidFill>
                <a:latin typeface="Segoe UI"/>
              </a:rPr>
              <a:t>GreenLight never approves anything.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31720"/>
            <a:ext cx="1050919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1E7A32"/>
                </a:solidFill>
                <a:latin typeface="Segoe UI"/>
              </a:rPr>
              <a:t>It makes sure a person can.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897880"/>
            <a:ext cx="105091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</a:pPr>
            <a:r>
              <a:rPr sz="850" b="0" i="0">
                <a:solidFill>
                  <a:srgbClr val="656C7A"/>
                </a:solidFill>
                <a:latin typeface="Segoe UI"/>
              </a:rPr>
              <a:t>BISTEC Global  ·  Approval console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