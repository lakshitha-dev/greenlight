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[~30s] Good morning. I'm Lakshitha.</a:t>
            </a:r>
          </a:p>
          <a:p/>
          <a:p>
            <a:r>
              <a:t>GreenLight is an approval console. It takes the software requests that land on Operations every week and hands them back with the homework already done.</a:t>
            </a:r>
          </a:p>
          <a:p/>
          <a:p>
            <a:r>
              <a:t>The recurring task it removes is vendor research — two to three hours a tool, plus the days it spends waiting.</a:t>
            </a:r>
          </a:p>
          <a:p/>
          <a:p>
            <a:r>
              <a:t>MOVE ON WITH: Let me show you why it mattered.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[~60s] Last month the support team asked for a remote-access tool for a client service desk. A perfectly reasonable request.</a:t>
            </a:r>
          </a:p>
          <a:p/>
          <a:p>
            <a:r>
              <a:t>When GreenLight checked it against CISA's live list of software being actively exploited — it was on it.</a:t>
            </a:r>
          </a:p>
          <a:p/>
          <a:p>
            <a:r>
              <a:t>*** PAUSE HERE. Let that sit. ***</a:t>
            </a:r>
          </a:p>
          <a:p/>
          <a:p>
            <a:r>
              <a:t>Nobody could have known. The requester had no reason to check. The approver had no way to find out in the time available.</a:t>
            </a:r>
          </a:p>
          <a:p/>
          <a:p>
            <a:r>
              <a:t>IF ASKED the exact number: it is checked live, so it is whatever CISA says that day. That is deliberate — a number baked into a slide would already be out of date.</a:t>
            </a:r>
          </a:p>
          <a:p/>
          <a:p>
            <a:r>
              <a:t>MOVE ON WITH: The gap isn't the people. It's that answering properly takes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[~60s] Here is the week.</a:t>
            </a:r>
          </a:p>
          <a:p/>
          <a:p>
            <a:r>
              <a:t>Three days in the inbox — every operational request in the company arrives at one desk.</a:t>
            </a:r>
          </a:p>
          <a:p/>
          <a:p>
            <a:r>
              <a:t>Then it comes back incomplete, so another day or two.</a:t>
            </a:r>
          </a:p>
          <a:p/>
          <a:p>
            <a:r>
              <a:t>Then two to three hours of research, by the approver, by hand.</a:t>
            </a:r>
          </a:p>
          <a:p/>
          <a:p>
            <a:r>
              <a:t>Nearly a week for one tool.</a:t>
            </a:r>
          </a:p>
          <a:p/>
          <a:p>
            <a:r>
              <a:t>LAND THIS: the work that makes one person the bottleneck is the same work every single time. That is exactly what you automate.</a:t>
            </a:r>
          </a:p>
          <a:p/>
          <a:p>
            <a:r>
              <a:t>NOTE: say the word 'estimate' out loud here. It buys you credibility for slide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[~75s] THIS IS THE SLIDE. Slow down.</a:t>
            </a:r>
          </a:p>
          <a:p/>
          <a:p>
            <a:r>
              <a:t>Same request, both sides.</a:t>
            </a:r>
          </a:p>
          <a:p/>
          <a:p>
            <a:r>
              <a:t>Left: what the approver used to open. Six people want Canva Pro. And nothing else — no cost, no security answer, no legal position.</a:t>
            </a:r>
          </a:p>
          <a:p/>
          <a:p>
            <a:r>
              <a:t>Right: what they open now. Do we own it — no. Is anyone attacking it — no. Is there a security audit — yes, and here is where we found it.</a:t>
            </a:r>
          </a:p>
          <a:p/>
          <a:p>
            <a:r>
              <a:t>Where does our data sit — United States. But read that line carefully: that is the VENDOR'S OWN WORD. Nobody independent confirmed it, and GreenLight says so.</a:t>
            </a:r>
          </a:p>
          <a:p/>
          <a:p>
            <a:r>
              <a:t>And privacy: the email never mentioned it. So rather than assume, GreenLight has drafted the question — and a person sends it.</a:t>
            </a:r>
          </a:p>
          <a:p/>
          <a:p>
            <a:r>
              <a:t>LAND THIS: the homework is done, and what is unknown is named rather than filled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[~60s] The biggest saving is not doing the research faster. It is not doing it at all.</a:t>
            </a:r>
          </a:p>
          <a:p/>
          <a:p>
            <a:r>
              <a:t>First question: do we already own this?</a:t>
            </a:r>
          </a:p>
          <a:p/>
          <a:p>
            <a:r>
              <a:t>Yes, and a seat is free — nobody approves anything. Access in seconds, still logged.</a:t>
            </a:r>
          </a:p>
          <a:p/>
          <a:p>
            <a:r>
              <a:t>Yes, but no spare seat — that is a purchase, not a security question. It goes to whoever owns the budget. It never reaches IT.</a:t>
            </a:r>
          </a:p>
          <a:p/>
          <a:p>
            <a:r>
              <a:t>Only genuinely new software reaches an approver.</a:t>
            </a:r>
          </a:p>
          <a:p/>
          <a:p>
            <a:r>
              <a:t>NUMBER TO LAND: on one working day of real traffic, 3 of 11 were settled before anyone read them.</a:t>
            </a:r>
          </a:p>
          <a:p/>
          <a:p>
            <a:r>
              <a:t>IF CHALLENGED that 8 of 11 still needed review: yes — and that share falls every time something is approved, because approving it adds it to what we own. The queue shrinks as you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[~60s] Some of these questions a database answers. Four free sources, about a second, no key required — is anyone attacking it, how many serious flaws, what is its privacy record.</a:t>
            </a:r>
          </a:p>
          <a:p/>
          <a:p>
            <a:r>
              <a:t>But the questions that actually decide an approval have no database behind them.</a:t>
            </a:r>
          </a:p>
          <a:p/>
          <a:p>
            <a:r>
              <a:t>Does this vendor hold a current security audit? Will they sign a data agreement? Where does our data physically sit?</a:t>
            </a:r>
          </a:p>
          <a:p/>
          <a:p>
            <a:r>
              <a:t>That lives as prose, on legal pages, in a different shape for every single vendor. Somebody has to read it.</a:t>
            </a:r>
          </a:p>
          <a:p/>
          <a:p>
            <a:r>
              <a:t>LAND THIS: that reading IS the recurring task. It is what took the hours. That is the part Claude takes.</a:t>
            </a:r>
          </a:p>
          <a:p/>
          <a:p>
            <a:r>
              <a:t>IF ASKED about cost: it runs on an ordinary Claude subscription. No API key, no per-call billing.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[~60s] The obvious objection to any AI tool is that it makes things up. So this is the part I would defend hardest.</a:t>
            </a:r>
          </a:p>
          <a:p/>
          <a:p>
            <a:r>
              <a:t>Every fact carries where it came from. We checked it. We found it written on a page. The vendor claims it about itself. Or we could not establish it.</a:t>
            </a:r>
          </a:p>
          <a:p/>
          <a:p>
            <a:r>
              <a:t>And two rules follow from that.</a:t>
            </a:r>
          </a:p>
          <a:p/>
          <a:p>
            <a:r>
              <a:t>A vendor's claim about itself cannot satisfy a requirement that blocks — their word is not evidence.</a:t>
            </a:r>
          </a:p>
          <a:p/>
          <a:p>
            <a:r>
              <a:t>And a question it cannot settle comes back as 'more information required'. Never a guess.</a:t>
            </a:r>
          </a:p>
          <a:p/>
          <a:p>
            <a:r>
              <a:t>LAND THIS: it tells you what it does not know. That is what makes it safe to rely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[~50s] An approval is not forever, and this is the part I would show a security lead.</a:t>
            </a:r>
          </a:p>
          <a:p/>
          <a:p>
            <a:r>
              <a:t>Slack's approval ran out this morning. It dropped off the list of what may run on company machines — on its own.</a:t>
            </a:r>
          </a:p>
          <a:p/>
          <a:p>
            <a:r>
              <a:t>Microsoft 365 came under attack after we approved it: six new actively-exploited vulnerabilities published since. So it stops self-serving until someone looks again.</a:t>
            </a:r>
          </a:p>
          <a:p/>
          <a:p>
            <a:r>
              <a:t>No ticket. No restart. Nobody notified — because nobody needed to be.</a:t>
            </a:r>
          </a:p>
          <a:p/>
          <a:p>
            <a:r>
              <a:t>Two products, 550 seats, handled this morning while everybody was asleep.</a:t>
            </a:r>
          </a:p>
          <a:p/>
          <a:p>
            <a:r>
              <a:t>AND: it also compares what we approved against what is actually running, so software that arrived without asking shows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[~45s] One thing worth saying to Operations directly.</a:t>
            </a:r>
          </a:p>
          <a:p/>
          <a:p>
            <a:r>
              <a:t>The rules are yours. Nineteen requirements, in a file you own — not in code, not in my head.</a:t>
            </a:r>
          </a:p>
          <a:p/>
          <a:p>
            <a:r>
              <a:t>Change one, and nothing gets deployed and no ticket gets raised.</a:t>
            </a:r>
          </a:p>
          <a:p/>
          <a:p>
            <a:r>
              <a:t>And every decision records which version of the rules governed it. So when the ISO audit asks what the rules were in March, there is an answer — rather than somebody digging through old emails.</a:t>
            </a:r>
          </a:p>
          <a:p/>
          <a:p>
            <a:r>
              <a:t>AUDIENCE NOTE: if Quality or Compliance are in the room, this is their slide. Look at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[~60s] Split honestly, because I would rather you trusted the half I can prove.</a:t>
            </a:r>
          </a:p>
          <a:p/>
          <a:p>
            <a:r>
              <a:t>LEFT — what I can show you today:</a:t>
            </a:r>
          </a:p>
          <a:p>
            <a:r>
              <a:t>898 licence seats tracked. 99 of them sitting unused. That is 2.16 million rupees a year in licences nobody has opened.</a:t>
            </a:r>
          </a:p>
          <a:p>
            <a:r>
              <a:t>3 of 11 requests settled without an approver.</a:t>
            </a:r>
          </a:p>
          <a:p>
            <a:r>
              <a:t>Software under active attack caught before installation.</a:t>
            </a:r>
          </a:p>
          <a:p/>
          <a:p>
            <a:r>
              <a:t>RIGHT — what I cannot prove yet. How many requests a week. What share come back incomplete. How long the round trip really takes.</a:t>
            </a:r>
          </a:p>
          <a:p/>
          <a:p>
            <a:r>
              <a:t>Ten minutes with Operations turns those into evidence. Until then I am calling them estimates — and I would rather tell you which is which.</a:t>
            </a:r>
          </a:p>
          <a:p/>
          <a:p>
            <a:r>
              <a:t>FINALLY: it is running. Not a mockup. You can sign in this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[~35s] Who is it for.</a:t>
            </a:r>
          </a:p>
          <a:p/>
          <a:p>
            <a:r>
              <a:t>Everyone raises software requests — Delivery, QA, Marketing, Support, Infrastructure, Quality. All of them.</a:t>
            </a:r>
          </a:p>
          <a:p/>
          <a:p>
            <a:r>
              <a:t>Operations decides, and is the only role that can.</a:t>
            </a:r>
          </a:p>
          <a:p/>
          <a:p>
            <a:r>
              <a:t>Finance owns the spend, Legal owns the privacy question, IT owns what runs on the machines.</a:t>
            </a:r>
          </a:p>
          <a:p/>
          <a:p>
            <a:r>
              <a:t>That is why it is submitted as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[~25s] One line to leave you with.</a:t>
            </a:r>
          </a:p>
          <a:p/>
          <a:p>
            <a:r>
              <a:t>GreenLight never approves anything. It makes sure a person can.</a:t>
            </a:r>
          </a:p>
          <a:p/>
          <a:p>
            <a:r>
              <a:t>*** PAUSE. Then: *** Thank you.</a:t>
            </a:r>
          </a:p>
          <a:p/>
          <a:p>
            <a:r>
              <a:t>LIKELY QUESTIONS:</a:t>
            </a:r>
          </a:p>
          <a:p>
            <a:r>
              <a:t>· Is it really running? Yes — sign in at the address on screen, any account, password 'greenlight'.</a:t>
            </a:r>
          </a:p>
          <a:p>
            <a:r>
              <a:t>· What if Claude is wrong? It cannot approve anything, and anything it could not verify is marked unverified. A person decides every time.</a:t>
            </a:r>
          </a:p>
          <a:p>
            <a:r>
              <a:t>· What did it cost to build? An ordinary Claude subscription. No API key, no per-call billing.</a:t>
            </a:r>
          </a:p>
          <a:p>
            <a:r>
              <a:t>· Could my department use it? The rule engine is not software-specific — it already runs ISO document approvals through the same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4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4B5563"/>
                </a:solidFill>
                <a:latin typeface="Segoe UI"/>
              </a:rPr>
              <a:t>GreenLight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13232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656C7A"/>
                </a:solidFill>
                <a:latin typeface="Segoe UI"/>
              </a:rPr>
              <a:t>H E A R T F O R G E  2 0 2 6    ·    B I S T E C  G L O B A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1050919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111827"/>
                </a:solidFill>
                <a:latin typeface="Segoe UI"/>
              </a:rPr>
              <a:t>GreenLight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50008"/>
            <a:ext cx="525459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374151"/>
                </a:solidFill>
                <a:latin typeface="Segoe UI"/>
              </a:rPr>
              <a:t>Approvals that arrive ready to approve.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191256"/>
            <a:ext cx="6515703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Every software request in the company lands on one desk — and before anyone can say yes, </a:t>
            </a:r>
            <a:r>
              <a:rPr sz="1300" b="0" i="0">
                <a:solidFill>
                  <a:srgbClr val="374151"/>
                </a:solidFill>
                <a:latin typeface="Segoe UI"/>
              </a:rPr>
              <a:t>somebody has to research the vendor by hand. </a:t>
            </a:r>
            <a:r>
              <a:rPr sz="1300" b="1" i="0">
                <a:solidFill>
                  <a:srgbClr val="111827"/>
                </a:solidFill>
                <a:latin typeface="Segoe UI"/>
              </a:rPr>
              <a:t>That is the task this removes.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032504"/>
            <a:ext cx="336895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4178808"/>
            <a:ext cx="296661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The recurring task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Segoe UI"/>
              </a:rPr>
              <a:t>Two to three hours of vendor research per tool, plus the days it waits in a queue. Every week.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1370" y="4032504"/>
            <a:ext cx="336895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2538" y="4178808"/>
            <a:ext cx="296661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Built with Claude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Segoe UI"/>
              </a:rPr>
              <a:t>Two Claude Skills do the reading a person used to do — on an ordinary subscription, no API key.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1492" y="4032504"/>
            <a:ext cx="336895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2660" y="4178808"/>
            <a:ext cx="296661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Who it is for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Segoe UI"/>
              </a:rPr>
              <a:t>Every department raises software requests. Operations decides. So: all of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897880"/>
            <a:ext cx="105091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</a:pPr>
            <a:r>
              <a:rPr sz="850" b="0" i="0">
                <a:solidFill>
                  <a:srgbClr val="656C7A"/>
                </a:solidFill>
                <a:latin typeface="Segoe UI"/>
              </a:rPr>
              <a:t>Lakshitha  ·  greenlight-umber.vercel.app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4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4B5563"/>
                </a:solidFill>
                <a:latin typeface="Segoe UI"/>
              </a:rPr>
              <a:t>GreenLight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13232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656C7A"/>
                </a:solidFill>
                <a:latin typeface="Segoe UI"/>
              </a:rPr>
              <a:t>W H Y  I  B U I L T  I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1050919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111827"/>
                </a:solidFill>
                <a:latin typeface="Segoe UI"/>
              </a:rPr>
              <a:t>Last month the support team asked to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111827"/>
                </a:solidFill>
                <a:latin typeface="Segoe UI"/>
              </a:rPr>
              <a:t>install a remote-access tool.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55264"/>
            <a:ext cx="756662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374151"/>
                </a:solidFill>
                <a:latin typeface="Segoe UI"/>
              </a:rPr>
              <a:t>When GreenLight checked, it was already on the public list of software </a:t>
            </a:r>
            <a:r>
              <a:rPr sz="1600" b="1" i="0">
                <a:solidFill>
                  <a:srgbClr val="B42318"/>
                </a:solidFill>
                <a:latin typeface="Segoe UI"/>
              </a:rPr>
              <a:t>being actively broken into right now</a:t>
            </a:r>
            <a:r>
              <a:rPr sz="1600" b="0" i="0">
                <a:solidFill>
                  <a:srgbClr val="374151"/>
                </a:solidFill>
                <a:latin typeface="Segoe U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096512"/>
            <a:ext cx="81971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"/>
              </a:rPr>
              <a:t>And nobody did anything wrong.</a:t>
            </a:r>
            <a:r>
              <a:rPr sz="1300" b="0" i="0">
                <a:solidFill>
                  <a:srgbClr val="374151"/>
                </a:solidFill>
                <a:latin typeface="Segoe UI"/>
              </a:rPr>
              <a:t> The requester had no reason to check. The approver had no way to find out. </a:t>
            </a:r>
            <a:r>
              <a:rPr sz="1300" b="0" i="0">
                <a:solidFill>
                  <a:srgbClr val="374151"/>
                </a:solidFill>
                <a:latin typeface="Segoe UI"/>
              </a:rPr>
              <a:t>The gap was not in the people — it was that answering the question properly takes hours nobody has.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897880"/>
            <a:ext cx="105091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</a:pPr>
            <a:r>
              <a:rPr sz="850" b="0" i="0">
                <a:solidFill>
                  <a:srgbClr val="656C7A"/>
                </a:solidFill>
                <a:latin typeface="Segoe UI"/>
              </a:rPr>
              <a:t>Checked live against CISA's Known Exploited Vulnerabilities catalogue at the moment of asking. The figures are whatever the catalogue says that day — which is exactly the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4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4B5563"/>
                </a:solidFill>
                <a:latin typeface="Segoe UI"/>
              </a:rPr>
              <a:t>GreenLight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13232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656C7A"/>
                </a:solidFill>
                <a:latin typeface="Segoe UI"/>
              </a:rPr>
              <a:t>T H E  R E C U R R I N G  T A S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105091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11827"/>
                </a:solidFill>
                <a:latin typeface="Segoe UI"/>
              </a:rPr>
              <a:t>One request. Nearly a week.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10512"/>
            <a:ext cx="1050919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5000"/>
              </a:lnSpc>
              <a:spcAft>
                <a:spcPts val="500"/>
              </a:spcAft>
            </a:pPr>
            <a:r>
              <a:rPr sz="1150" b="1" i="0">
                <a:solidFill>
                  <a:srgbClr val="B54708"/>
                </a:solidFill>
                <a:latin typeface="Consolas"/>
              </a:rPr>
              <a:t>3 days   </a:t>
            </a:r>
            <a:r>
              <a:rPr sz="1250" b="0" i="0">
                <a:solidFill>
                  <a:srgbClr val="374151"/>
                </a:solidFill>
                <a:latin typeface="Segoe UI"/>
              </a:rPr>
              <a:t>It waits in the inbox. Every operational request in the company arrives at the same desk.</a:t>
            </a:r>
          </a:p>
          <a:p>
            <a:pPr>
              <a:lnSpc>
                <a:spcPct val="155000"/>
              </a:lnSpc>
              <a:spcAft>
                <a:spcPts val="500"/>
              </a:spcAft>
            </a:pPr>
            <a:r>
              <a:rPr sz="1150" b="1" i="0">
                <a:solidFill>
                  <a:srgbClr val="B54708"/>
                </a:solidFill>
                <a:latin typeface="Consolas"/>
              </a:rPr>
              <a:t>1–2 days   </a:t>
            </a:r>
            <a:r>
              <a:rPr sz="1250" b="0" i="0">
                <a:solidFill>
                  <a:srgbClr val="374151"/>
                </a:solidFill>
                <a:latin typeface="Segoe UI"/>
              </a:rPr>
              <a:t>It comes back incomplete — no justification, no cost, no security answer. The reply goes to the bottom of the queue.</a:t>
            </a:r>
          </a:p>
          <a:p>
            <a:pPr>
              <a:lnSpc>
                <a:spcPct val="155000"/>
              </a:lnSpc>
              <a:spcAft>
                <a:spcPts val="500"/>
              </a:spcAft>
            </a:pPr>
            <a:r>
              <a:rPr sz="1150" b="1" i="0">
                <a:solidFill>
                  <a:srgbClr val="B42318"/>
                </a:solidFill>
                <a:latin typeface="Consolas"/>
              </a:rPr>
              <a:t>2–3 hrs   </a:t>
            </a:r>
            <a:r>
              <a:rPr sz="1250" b="0" i="0">
                <a:solidFill>
                  <a:srgbClr val="374151"/>
                </a:solidFill>
                <a:latin typeface="Segoe UI"/>
              </a:rPr>
              <a:t>The approver becomes the researcher. Is this vendor safe? What does it cost? Are we allowed to use it here?</a:t>
            </a:r>
          </a:p>
          <a:p>
            <a:pPr>
              <a:lnSpc>
                <a:spcPct val="155000"/>
              </a:lnSpc>
              <a:spcAft>
                <a:spcPts val="500"/>
              </a:spcAft>
            </a:pPr>
            <a:r>
              <a:rPr sz="625"/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91840"/>
            <a:ext cx="903791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"/>
              </a:rPr>
              <a:t>Then multiply that by every tool, every week.</a:t>
            </a:r>
            <a:r>
              <a:rPr sz="1300" b="0" i="0">
                <a:solidFill>
                  <a:srgbClr val="374151"/>
                </a:solidFill>
                <a:latin typeface="Segoe UI"/>
              </a:rPr>
              <a:t> One person is the bottleneck for the whole company, and the work that makes them </a:t>
            </a:r>
            <a:r>
              <a:rPr sz="1300" b="0" i="0">
                <a:solidFill>
                  <a:srgbClr val="374151"/>
                </a:solidFill>
                <a:latin typeface="Segoe UI"/>
              </a:rPr>
              <a:t>the bottleneck is the same work every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897880"/>
            <a:ext cx="105091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</a:pPr>
            <a:r>
              <a:rPr sz="850" b="0" i="0">
                <a:solidFill>
                  <a:srgbClr val="656C7A"/>
                </a:solidFill>
                <a:latin typeface="Segoe UI"/>
              </a:rPr>
              <a:t>Elapsed times are estimates and are marked as estimates throughout this deck. The missing-justification case is real — it happened to an ISO approval last month.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4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4B5563"/>
                </a:solidFill>
                <a:latin typeface="Segoe UI"/>
              </a:rPr>
              <a:t>GreenLight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13232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656C7A"/>
                </a:solidFill>
                <a:latin typeface="Segoe UI"/>
              </a:rPr>
              <a:t>W H A T  C H A N G E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105091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11827"/>
                </a:solidFill>
                <a:latin typeface="Segoe UI"/>
              </a:rPr>
              <a:t>The same request, before and after.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10512"/>
            <a:ext cx="5154015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56816"/>
            <a:ext cx="47516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What the approver used to open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950" b="0" i="0">
                <a:solidFill>
                  <a:srgbClr val="4B5563"/>
                </a:solidFill>
                <a:latin typeface="Consolas"/>
              </a:rPr>
              <a:t>Could we get Canva Pro for the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950" b="0" i="0">
                <a:solidFill>
                  <a:srgbClr val="4B5563"/>
                </a:solidFill>
                <a:latin typeface="Consolas"/>
              </a:rPr>
              <a:t>marketing team? There are 6 of us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950" b="0" i="0">
                <a:solidFill>
                  <a:srgbClr val="4B5563"/>
                </a:solidFill>
                <a:latin typeface="Consolas"/>
              </a:rPr>
              <a:t>and we are rebuilding the case-study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950" b="0" i="0">
                <a:solidFill>
                  <a:srgbClr val="4B5563"/>
                </a:solidFill>
                <a:latin typeface="Consolas"/>
              </a:rPr>
              <a:t>templates.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525"/>
              <a:t> 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950" b="0" i="0">
                <a:solidFill>
                  <a:srgbClr val="4B5563"/>
                </a:solidFill>
                <a:latin typeface="Consolas"/>
              </a:rPr>
              <a:t>Thanks,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950" b="0" i="0">
                <a:solidFill>
                  <a:srgbClr val="4B5563"/>
                </a:solidFill>
                <a:latin typeface="Consolas"/>
              </a:rPr>
              <a:t>Marketing Lead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525"/>
              <a:t> 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1" i="0">
                <a:solidFill>
                  <a:srgbClr val="111827"/>
                </a:solidFill>
                <a:latin typeface="Segoe UI"/>
              </a:rPr>
              <a:t>And nothing else.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1" y="1810512"/>
            <a:ext cx="5154015" cy="2286000"/>
          </a:xfrm>
          <a:prstGeom prst="roundRect">
            <a:avLst>
              <a:gd name="adj" fmla="val 6000"/>
            </a:avLst>
          </a:prstGeom>
          <a:solidFill>
            <a:srgbClr val="E7F5EA"/>
          </a:solidFill>
          <a:ln w="12700">
            <a:solidFill>
              <a:srgbClr val="A8D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599" y="1956816"/>
            <a:ext cx="47516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What the approver opens now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525"/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7599" y="2377440"/>
            <a:ext cx="47516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950" b="0" i="0">
                <a:solidFill>
                  <a:srgbClr val="656C7A"/>
                </a:solidFill>
                <a:latin typeface="Consolas"/>
              </a:rPr>
              <a:t>Own it?   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No — new to us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950" b="0" i="0">
                <a:solidFill>
                  <a:srgbClr val="656C7A"/>
                </a:solidFill>
                <a:latin typeface="Consolas"/>
              </a:rPr>
              <a:t>Attacked?   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Nothing on the live exploited list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950" b="0" i="0">
                <a:solidFill>
                  <a:srgbClr val="656C7A"/>
                </a:solidFill>
                <a:latin typeface="Consolas"/>
              </a:rPr>
              <a:t>Security   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Independent audit report — </a:t>
            </a:r>
            <a:r>
              <a:rPr sz="1100" b="1" i="0">
                <a:solidFill>
                  <a:srgbClr val="111827"/>
                </a:solidFill>
                <a:latin typeface="Segoe UI"/>
              </a:rPr>
              <a:t>found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950" b="0" i="0">
                <a:solidFill>
                  <a:srgbClr val="656C7A"/>
                </a:solidFill>
                <a:latin typeface="Consolas"/>
              </a:rPr>
              <a:t>Our data   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United States — </a:t>
            </a:r>
            <a:r>
              <a:rPr sz="1100" b="1" i="0">
                <a:solidFill>
                  <a:srgbClr val="B54708"/>
                </a:solidFill>
                <a:latin typeface="Segoe UI"/>
              </a:rPr>
              <a:t>vendor's own word only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950" b="0" i="0">
                <a:solidFill>
                  <a:srgbClr val="656C7A"/>
                </a:solidFill>
                <a:latin typeface="Consolas"/>
              </a:rPr>
              <a:t>Cost   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Within delegated spend authority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950" b="0" i="0">
                <a:solidFill>
                  <a:srgbClr val="656C7A"/>
                </a:solidFill>
                <a:latin typeface="Consolas"/>
              </a:rPr>
              <a:t>Privacy   </a:t>
            </a:r>
            <a:r>
              <a:rPr sz="1100" b="1" i="0">
                <a:solidFill>
                  <a:srgbClr val="B54708"/>
                </a:solidFill>
                <a:latin typeface="Segoe UI"/>
              </a:rPr>
              <a:t>Not stated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 — question drafted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550"/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334256"/>
            <a:ext cx="903791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Same request. Same approver. </a:t>
            </a:r>
            <a:r>
              <a:rPr sz="1300" b="1" i="0">
                <a:solidFill>
                  <a:srgbClr val="111827"/>
                </a:solidFill>
                <a:latin typeface="Segoe UI"/>
              </a:rPr>
              <a:t>The homework is done before they open it</a:t>
            </a:r>
            <a:r>
              <a:rPr sz="1300" b="0" i="0">
                <a:solidFill>
                  <a:srgbClr val="374151"/>
                </a:solidFill>
                <a:latin typeface="Segoe UI"/>
              </a:rPr>
              <a:t> — and what is still unknown is named, not quietly filled 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4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4B5563"/>
                </a:solidFill>
                <a:latin typeface="Segoe UI"/>
              </a:rPr>
              <a:t>GreenLight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13232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656C7A"/>
                </a:solidFill>
                <a:latin typeface="Segoe UI"/>
              </a:rPr>
              <a:t>T H E  B I G G E S T  S A V I N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105091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11827"/>
                </a:solidFill>
                <a:latin typeface="Segoe UI"/>
              </a:rPr>
              <a:t>Most requests should never reach a person at 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10512"/>
            <a:ext cx="7566623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374151"/>
                </a:solidFill>
                <a:latin typeface="Segoe UI"/>
              </a:rPr>
              <a:t>Before anything else, GreenLight asks one question: </a:t>
            </a:r>
            <a:r>
              <a:rPr sz="1600" b="1" i="0">
                <a:solidFill>
                  <a:srgbClr val="111827"/>
                </a:solidFill>
                <a:latin typeface="Segoe UI"/>
              </a:rPr>
              <a:t>do we already own this?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51760"/>
            <a:ext cx="3368954" cy="1645920"/>
          </a:xfrm>
          <a:prstGeom prst="roundRect">
            <a:avLst>
              <a:gd name="adj" fmla="val 6000"/>
            </a:avLst>
          </a:prstGeom>
          <a:solidFill>
            <a:srgbClr val="E7F5EA"/>
          </a:solidFill>
          <a:ln w="12700">
            <a:solidFill>
              <a:srgbClr val="A8D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798064"/>
            <a:ext cx="296661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2700" b="1" i="0">
                <a:solidFill>
                  <a:srgbClr val="1E7A32"/>
                </a:solidFill>
                <a:latin typeface="Consolas"/>
              </a:rPr>
              <a:t>Nobody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Segoe UI"/>
              </a:rPr>
              <a:t>We own it and a licence is spare. Access in seconds, and it is still logged.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370" y="2651760"/>
            <a:ext cx="3368954" cy="1645920"/>
          </a:xfrm>
          <a:prstGeom prst="roundRect">
            <a:avLst>
              <a:gd name="adj" fmla="val 6000"/>
            </a:avLst>
          </a:prstGeom>
          <a:solidFill>
            <a:srgbClr val="E3F4F7"/>
          </a:solidFill>
          <a:ln w="12700">
            <a:solidFill>
              <a:srgbClr val="9E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2538" y="2798064"/>
            <a:ext cx="296661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2700" b="1" i="0">
                <a:solidFill>
                  <a:srgbClr val="00707F"/>
                </a:solidFill>
                <a:latin typeface="Consolas"/>
              </a:rPr>
              <a:t>Finance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Segoe UI"/>
              </a:rPr>
              <a:t>We own it, no spare seat. That is a purchase, not a security question — so it never reaches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1492" y="2651760"/>
            <a:ext cx="3368954" cy="1645920"/>
          </a:xfrm>
          <a:prstGeom prst="roundRect">
            <a:avLst>
              <a:gd name="adj" fmla="val 6000"/>
            </a:avLst>
          </a:prstGeom>
          <a:solidFill>
            <a:srgbClr val="FDF2E7"/>
          </a:solidFill>
          <a:ln w="12700">
            <a:solidFill>
              <a:srgbClr val="F0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2660" y="2798064"/>
            <a:ext cx="296661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2700" b="1" i="0">
                <a:solidFill>
                  <a:srgbClr val="B54708"/>
                </a:solidFill>
                <a:latin typeface="Consolas"/>
              </a:rPr>
              <a:t>IT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Segoe UI"/>
              </a:rPr>
              <a:t>New to us, or the last answer has expired. This is the one worth an approver's attention.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535424"/>
            <a:ext cx="903791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On one working day of real traffic, </a:t>
            </a:r>
            <a:r>
              <a:rPr sz="1300" b="1" i="0">
                <a:solidFill>
                  <a:srgbClr val="111827"/>
                </a:solidFill>
                <a:latin typeface="Segoe UI"/>
              </a:rPr>
              <a:t>3 of 11 requests were settled before anyone read them</a:t>
            </a:r>
            <a:r>
              <a:rPr sz="1300" b="0" i="0">
                <a:solidFill>
                  <a:srgbClr val="374151"/>
                </a:solidFill>
                <a:latin typeface="Segoe UI"/>
              </a:rPr>
              <a:t> — and of the four asking for software we already own, </a:t>
            </a:r>
            <a:r>
              <a:rPr sz="1300" b="1" i="0">
                <a:solidFill>
                  <a:srgbClr val="111827"/>
                </a:solidFill>
                <a:latin typeface="Segoe UI"/>
              </a:rPr>
              <a:t>three needed no security review at all</a:t>
            </a:r>
            <a:r>
              <a:rPr sz="1300" b="0" i="0">
                <a:solidFill>
                  <a:srgbClr val="374151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4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4B5563"/>
                </a:solidFill>
                <a:latin typeface="Segoe UI"/>
              </a:rPr>
              <a:t>GreenLight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13232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656C7A"/>
                </a:solidFill>
                <a:latin typeface="Segoe UI"/>
              </a:rPr>
              <a:t>W H E R E  C L A U D E  D O E S  T H E  W O R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105091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11827"/>
                </a:solidFill>
                <a:latin typeface="Segoe UI"/>
              </a:rPr>
              <a:t>The questions you cannot look 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10512"/>
            <a:ext cx="5154015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56816"/>
            <a:ext cx="47516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A database can answer these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4B5563"/>
                </a:solidFill>
                <a:latin typeface="Segoe UI"/>
              </a:rPr>
              <a:t>Is anyone attacking it right now? How many serious flaws? What is its privacy record?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525"/>
              <a:t> 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950" b="0" i="0">
                <a:solidFill>
                  <a:srgbClr val="4B5563"/>
                </a:solidFill>
                <a:latin typeface="Consolas"/>
              </a:rPr>
              <a:t>CISA   ·   NIST   ·   ToSDR   ·   OSV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525"/>
              <a:t> 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1" i="0">
                <a:solidFill>
                  <a:srgbClr val="111827"/>
                </a:solidFill>
                <a:latin typeface="Segoe UI"/>
              </a:rPr>
              <a:t>Four sources, about one second.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1" y="1810512"/>
            <a:ext cx="5154015" cy="2103120"/>
          </a:xfrm>
          <a:prstGeom prst="roundRect">
            <a:avLst>
              <a:gd name="adj" fmla="val 6000"/>
            </a:avLst>
          </a:prstGeom>
          <a:solidFill>
            <a:srgbClr val="E7F5EA"/>
          </a:solidFill>
          <a:ln w="12700">
            <a:solidFill>
              <a:srgbClr val="A8D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7599" y="1956816"/>
            <a:ext cx="47516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Only Claude can answer these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Segoe UI"/>
              </a:rPr>
              <a:t>Does this vendor hold a current security audit? Will they sign a data agreement? Where does our data physically sit? Who else do they hand it to?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525"/>
              <a:t> 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1" i="0">
                <a:solidFill>
                  <a:srgbClr val="111827"/>
                </a:solidFill>
                <a:latin typeface="Segoe UI"/>
              </a:rPr>
              <a:t>There is no database for any of it.</a:t>
            </a:r>
            <a:r>
              <a:rPr sz="1050" b="0" i="0">
                <a:solidFill>
                  <a:srgbClr val="374151"/>
                </a:solidFill>
                <a:latin typeface="Segoe UI"/>
              </a:rPr>
              <a:t> It lives as prose on legal pages, in a different shape for every vendor.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151376"/>
            <a:ext cx="903791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300" b="1" i="0">
                <a:solidFill>
                  <a:srgbClr val="111827"/>
                </a:solidFill>
                <a:latin typeface="Segoe UI"/>
              </a:rPr>
              <a:t>That reading is the recurring task.</a:t>
            </a:r>
            <a:r>
              <a:rPr sz="1300" b="0" i="0">
                <a:solidFill>
                  <a:srgbClr val="374151"/>
                </a:solidFill>
                <a:latin typeface="Segoe UI"/>
              </a:rPr>
              <a:t> It is what took two to three hours a time — and it is the part Claude takes off the desk.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4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4B5563"/>
                </a:solidFill>
                <a:latin typeface="Segoe UI"/>
              </a:rPr>
              <a:t>GreenLight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13232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656C7A"/>
                </a:solidFill>
                <a:latin typeface="Segoe UI"/>
              </a:rPr>
              <a:t>W H Y  Y O U  C A N  T R U S T  I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105091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11827"/>
                </a:solidFill>
                <a:latin typeface="Segoe UI"/>
              </a:rPr>
              <a:t>It tells you what it doesn't know.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10512"/>
            <a:ext cx="693607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374151"/>
                </a:solidFill>
                <a:latin typeface="Segoe UI"/>
              </a:rPr>
              <a:t>The thing everyone fears about an AI tool is confident nonsense. This one is built so it cannot produce any.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51760"/>
            <a:ext cx="928116" cy="256032"/>
          </a:xfrm>
          <a:prstGeom prst="roundRect">
            <a:avLst>
              <a:gd name="adj" fmla="val 50000"/>
            </a:avLst>
          </a:prstGeom>
          <a:solidFill>
            <a:srgbClr val="E7F5EA"/>
          </a:solidFill>
          <a:ln w="9525">
            <a:solidFill>
              <a:srgbClr val="A8D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900" b="1" i="0">
                <a:solidFill>
                  <a:srgbClr val="1E7A32"/>
                </a:solidFill>
                <a:latin typeface="Segoe UI"/>
              </a:rPr>
              <a:t>checked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7380" y="2638044"/>
            <a:ext cx="958108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200" b="0" i="0">
                <a:solidFill>
                  <a:srgbClr val="374151"/>
                </a:solidFill>
                <a:latin typeface="Segoe UI"/>
              </a:rPr>
              <a:t>we queried a source anyone else can query too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017520"/>
            <a:ext cx="772668" cy="256032"/>
          </a:xfrm>
          <a:prstGeom prst="roundRect">
            <a:avLst>
              <a:gd name="adj" fmla="val 50000"/>
            </a:avLst>
          </a:prstGeom>
          <a:solidFill>
            <a:srgbClr val="E3F4F7"/>
          </a:solidFill>
          <a:ln w="9525">
            <a:solidFill>
              <a:srgbClr val="9E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900" b="1" i="0">
                <a:solidFill>
                  <a:srgbClr val="00707F"/>
                </a:solidFill>
                <a:latin typeface="Segoe UI"/>
              </a:rPr>
              <a:t>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1932" y="3003804"/>
            <a:ext cx="973653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200" b="0" i="0">
                <a:solidFill>
                  <a:srgbClr val="374151"/>
                </a:solidFill>
                <a:latin typeface="Segoe UI"/>
              </a:rPr>
              <a:t>it is written on a page, and the page is kept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383280"/>
            <a:ext cx="1161288" cy="256032"/>
          </a:xfrm>
          <a:prstGeom prst="roundRect">
            <a:avLst>
              <a:gd name="adj" fmla="val 50000"/>
            </a:avLst>
          </a:prstGeom>
          <a:solidFill>
            <a:srgbClr val="FDF2E7"/>
          </a:solidFill>
          <a:ln w="9525">
            <a:solidFill>
              <a:srgbClr val="F0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900" b="1" i="0">
                <a:solidFill>
                  <a:srgbClr val="B54708"/>
                </a:solidFill>
                <a:latin typeface="Segoe UI"/>
              </a:rPr>
              <a:t>their 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0552" y="3369564"/>
            <a:ext cx="93479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200" b="0" i="0">
                <a:solidFill>
                  <a:srgbClr val="374151"/>
                </a:solidFill>
                <a:latin typeface="Segoe UI"/>
              </a:rPr>
              <a:t>the vendor says so about itself, nothing confirms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749040"/>
            <a:ext cx="1083564" cy="256032"/>
          </a:xfrm>
          <a:prstGeom prst="roundRect">
            <a:avLst>
              <a:gd name="adj" fmla="val 50000"/>
            </a:avLst>
          </a:prstGeom>
          <a:solidFill>
            <a:srgbClr val="FDECEB"/>
          </a:solidFill>
          <a:ln w="9525">
            <a:solidFill>
              <a:srgbClr val="F2B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900" b="1" i="0">
                <a:solidFill>
                  <a:srgbClr val="B42318"/>
                </a:solidFill>
                <a:latin typeface="Segoe UI"/>
              </a:rPr>
              <a:t>not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2828" y="3735324"/>
            <a:ext cx="942563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1200" b="0" i="0">
                <a:solidFill>
                  <a:srgbClr val="374151"/>
                </a:solidFill>
                <a:latin typeface="Segoe UI"/>
              </a:rPr>
              <a:t>we could not establish it, and we say 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4416552"/>
            <a:ext cx="5154015" cy="1143000"/>
          </a:xfrm>
          <a:prstGeom prst="roundRect">
            <a:avLst>
              <a:gd name="adj" fmla="val 6000"/>
            </a:avLst>
          </a:prstGeom>
          <a:solidFill>
            <a:srgbClr val="FDECEB"/>
          </a:solidFill>
          <a:ln w="12700">
            <a:solidFill>
              <a:srgbClr val="F2B8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4562856"/>
            <a:ext cx="47516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A vendor's word is not evidence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Segoe UI"/>
              </a:rPr>
              <a:t>A vendor's own claim </a:t>
            </a:r>
            <a:r>
              <a:rPr sz="1050" b="1" i="0">
                <a:solidFill>
                  <a:srgbClr val="111827"/>
                </a:solidFill>
                <a:latin typeface="Segoe UI"/>
              </a:rPr>
              <a:t>cannot satisfy a requirement that blocks</a:t>
            </a:r>
            <a:r>
              <a:rPr sz="1050" b="0" i="0">
                <a:solidFill>
                  <a:srgbClr val="374151"/>
                </a:solidFill>
                <a:latin typeface="Segoe UI"/>
              </a:rPr>
              <a:t>, however it arrived.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1" y="4416552"/>
            <a:ext cx="5154015" cy="1143000"/>
          </a:xfrm>
          <a:prstGeom prst="roundRect">
            <a:avLst>
              <a:gd name="adj" fmla="val 6000"/>
            </a:avLst>
          </a:prstGeom>
          <a:solidFill>
            <a:srgbClr val="E3F4F7"/>
          </a:solidFill>
          <a:ln w="12700">
            <a:solidFill>
              <a:srgbClr val="9E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599" y="4562856"/>
            <a:ext cx="47516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"Not found" is an answer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Segoe UI"/>
              </a:rPr>
              <a:t>A question it cannot settle comes back as </a:t>
            </a:r>
            <a:r>
              <a:rPr sz="1050" b="1" i="0">
                <a:solidFill>
                  <a:srgbClr val="111827"/>
                </a:solidFill>
                <a:latin typeface="Segoe UI"/>
              </a:rPr>
              <a:t>more information required</a:t>
            </a:r>
            <a:r>
              <a:rPr sz="1050" b="0" i="0">
                <a:solidFill>
                  <a:srgbClr val="374151"/>
                </a:solidFill>
                <a:latin typeface="Segoe UI"/>
              </a:rPr>
              <a:t>. Never a guess.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4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4B5563"/>
                </a:solidFill>
                <a:latin typeface="Segoe UI"/>
              </a:rPr>
              <a:t>GreenLight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13232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656C7A"/>
                </a:solidFill>
                <a:latin typeface="Segoe UI"/>
              </a:rPr>
              <a:t>A F T E R  Y O U  S T O P  W A T C H I N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105091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11827"/>
                </a:solidFill>
                <a:latin typeface="Segoe UI"/>
              </a:rPr>
              <a:t>Approvals expire by themselves.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10512"/>
            <a:ext cx="1050919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5000"/>
              </a:lnSpc>
              <a:spcAft>
                <a:spcPts val="500"/>
              </a:spcAft>
            </a:pPr>
            <a:r>
              <a:rPr sz="1150" b="0" i="0">
                <a:solidFill>
                  <a:srgbClr val="656C7A"/>
                </a:solidFill>
                <a:latin typeface="Consolas"/>
              </a:rPr>
              <a:t>→   </a:t>
            </a:r>
            <a:r>
              <a:rPr sz="1250" b="0" i="0">
                <a:solidFill>
                  <a:srgbClr val="374151"/>
                </a:solidFill>
                <a:latin typeface="Segoe UI"/>
              </a:rPr>
              <a:t>Slack's approval </a:t>
            </a:r>
            <a:r>
              <a:rPr sz="1250" b="1" i="0">
                <a:solidFill>
                  <a:srgbClr val="111827"/>
                </a:solidFill>
                <a:latin typeface="Segoe UI"/>
              </a:rPr>
              <a:t>ran out this morning</a:t>
            </a:r>
            <a:r>
              <a:rPr sz="1250" b="0" i="0">
                <a:solidFill>
                  <a:srgbClr val="374151"/>
                </a:solidFill>
                <a:latin typeface="Segoe UI"/>
              </a:rPr>
              <a:t>. It dropped off the list of what may run on company machines, on its own.</a:t>
            </a:r>
          </a:p>
          <a:p>
            <a:pPr>
              <a:lnSpc>
                <a:spcPct val="155000"/>
              </a:lnSpc>
              <a:spcAft>
                <a:spcPts val="500"/>
              </a:spcAft>
            </a:pPr>
            <a:r>
              <a:rPr sz="1150" b="0" i="0">
                <a:solidFill>
                  <a:srgbClr val="656C7A"/>
                </a:solidFill>
                <a:latin typeface="Consolas"/>
              </a:rPr>
              <a:t>→   </a:t>
            </a:r>
            <a:r>
              <a:rPr sz="1250" b="0" i="0">
                <a:solidFill>
                  <a:srgbClr val="374151"/>
                </a:solidFill>
                <a:latin typeface="Segoe UI"/>
              </a:rPr>
              <a:t>Microsoft 365 — </a:t>
            </a:r>
            <a:r>
              <a:rPr sz="1250" b="1" i="0">
                <a:solidFill>
                  <a:srgbClr val="B42318"/>
                </a:solidFill>
                <a:latin typeface="Segoe UI"/>
              </a:rPr>
              <a:t>six new actively-exploited vulnerabilities</a:t>
            </a:r>
            <a:r>
              <a:rPr sz="1250" b="0" i="0">
                <a:solidFill>
                  <a:srgbClr val="374151"/>
                </a:solidFill>
                <a:latin typeface="Segoe UI"/>
              </a:rPr>
              <a:t> published since it was approved. It stops self-serving until someone looks again.</a:t>
            </a:r>
          </a:p>
          <a:p>
            <a:pPr>
              <a:lnSpc>
                <a:spcPct val="155000"/>
              </a:lnSpc>
              <a:spcAft>
                <a:spcPts val="500"/>
              </a:spcAft>
            </a:pPr>
            <a:r>
              <a:rPr sz="1150" b="0" i="0">
                <a:solidFill>
                  <a:srgbClr val="656C7A"/>
                </a:solidFill>
                <a:latin typeface="Consolas"/>
              </a:rPr>
              <a:t>→   </a:t>
            </a:r>
            <a:r>
              <a:rPr sz="1250" b="1" i="0">
                <a:solidFill>
                  <a:srgbClr val="111827"/>
                </a:solidFill>
                <a:latin typeface="Segoe UI"/>
              </a:rPr>
              <a:t>No ticket. No restart. Nobody notified</a:t>
            </a:r>
            <a:r>
              <a:rPr sz="1250" b="0" i="0">
                <a:solidFill>
                  <a:srgbClr val="374151"/>
                </a:solidFill>
                <a:latin typeface="Segoe UI"/>
              </a:rPr>
              <a:t> — because nobody needed to be.</a:t>
            </a:r>
          </a:p>
          <a:p>
            <a:pPr>
              <a:lnSpc>
                <a:spcPct val="155000"/>
              </a:lnSpc>
              <a:spcAft>
                <a:spcPts val="500"/>
              </a:spcAft>
            </a:pPr>
            <a:r>
              <a:rPr sz="625"/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291840"/>
            <a:ext cx="10509199" cy="914400"/>
          </a:xfrm>
          <a:prstGeom prst="roundRect">
            <a:avLst>
              <a:gd name="adj" fmla="val 6000"/>
            </a:avLst>
          </a:prstGeom>
          <a:solidFill>
            <a:srgbClr val="FDF2E7"/>
          </a:solidFill>
          <a:ln w="12700">
            <a:solidFill>
              <a:srgbClr val="F0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3438144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And it finds what nobody approved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Segoe UI"/>
              </a:rPr>
              <a:t>GreenLight compares what was approved against what is actually installed on company machines — so software that arrived without asking shows 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897880"/>
            <a:ext cx="105091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</a:pPr>
            <a:r>
              <a:rPr sz="850" b="0" i="0">
                <a:solidFill>
                  <a:srgbClr val="656C7A"/>
                </a:solidFill>
                <a:latin typeface="Segoe UI"/>
              </a:rPr>
              <a:t>Two products covering 550 seats were withheld automatically this morning — one because its approval expired, one because it came under attack after we approved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4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4B5563"/>
                </a:solidFill>
                <a:latin typeface="Segoe UI"/>
              </a:rPr>
              <a:t>GreenLight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13232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656C7A"/>
                </a:solidFill>
                <a:latin typeface="Segoe UI"/>
              </a:rPr>
              <a:t>W H O  O W N S  T H E  P O L I C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105091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11827"/>
                </a:solidFill>
                <a:latin typeface="Segoe UI"/>
              </a:rPr>
              <a:t>Operations changes the rules. Not a developer.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10512"/>
            <a:ext cx="714625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600" b="0" i="0">
                <a:solidFill>
                  <a:srgbClr val="374151"/>
                </a:solidFill>
                <a:latin typeface="Segoe UI"/>
              </a:rPr>
              <a:t>The rules are a file Operations owns — nineteen requirements across software approval, ISO documents and privacy screening.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651760"/>
            <a:ext cx="861754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Change one and </a:t>
            </a:r>
            <a:r>
              <a:rPr sz="1300" b="1" i="0">
                <a:solidFill>
                  <a:srgbClr val="111827"/>
                </a:solidFill>
                <a:latin typeface="Segoe UI"/>
              </a:rPr>
              <a:t>nothing is deployed and no ticket is raised</a:t>
            </a:r>
            <a:r>
              <a:rPr sz="1300" b="0" i="0">
                <a:solidFill>
                  <a:srgbClr val="374151"/>
                </a:solidFill>
                <a:latin typeface="Segoe UI"/>
              </a:rPr>
              <a:t>. Every decision is stamped with the version of the rules that governed it, so an auditor asking </a:t>
            </a:r>
            <a:r>
              <a:rPr sz="1300" b="0" i="1">
                <a:solidFill>
                  <a:srgbClr val="374151"/>
                </a:solidFill>
                <a:latin typeface="Segoe UI"/>
              </a:rPr>
              <a:t>"what were the rules in March?"</a:t>
            </a:r>
            <a:r>
              <a:rPr sz="1300" b="0" i="0">
                <a:solidFill>
                  <a:srgbClr val="374151"/>
                </a:solidFill>
                <a:latin typeface="Segoe UI"/>
              </a:rPr>
              <a:t> gets an answer rather than an archaeology exercise.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767328"/>
            <a:ext cx="10509199" cy="914400"/>
          </a:xfrm>
          <a:prstGeom prst="roundRect">
            <a:avLst>
              <a:gd name="adj" fmla="val 6000"/>
            </a:avLst>
          </a:prstGeom>
          <a:solidFill>
            <a:srgbClr val="E3F4F7"/>
          </a:solidFill>
          <a:ln w="12700">
            <a:solidFill>
              <a:srgbClr val="9E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3913632"/>
            <a:ext cx="1010686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ISO audits are due early next year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Segoe UI"/>
              </a:rPr>
              <a:t>The evidence file builds itself — every decision, who made it, when, and under which version of our own policy. Including the ones nobody had to touch.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4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4B5563"/>
                </a:solidFill>
                <a:latin typeface="Segoe UI"/>
              </a:rPr>
              <a:t>GreenLight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13232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656C7A"/>
                </a:solidFill>
                <a:latin typeface="Segoe UI"/>
              </a:rPr>
              <a:t>W H A T  I T ' S  W O R T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105091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11827"/>
                </a:solidFill>
                <a:latin typeface="Segoe UI"/>
              </a:rPr>
              <a:t>Honestly, split in two.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10512"/>
            <a:ext cx="5154015" cy="2240280"/>
          </a:xfrm>
          <a:prstGeom prst="roundRect">
            <a:avLst>
              <a:gd name="adj" fmla="val 6000"/>
            </a:avLst>
          </a:prstGeom>
          <a:solidFill>
            <a:srgbClr val="E7F5EA"/>
          </a:solidFill>
          <a:ln w="12700">
            <a:solidFill>
              <a:srgbClr val="A8D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56816"/>
            <a:ext cx="47516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E7A32"/>
                </a:solidFill>
                <a:latin typeface="Segoe UI"/>
              </a:rPr>
              <a:t>We can show this today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525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377440"/>
            <a:ext cx="475167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950" b="0" i="0">
                <a:solidFill>
                  <a:srgbClr val="656C7A"/>
                </a:solidFill>
                <a:latin typeface="Consolas"/>
              </a:rPr>
              <a:t>·   </a:t>
            </a:r>
            <a:r>
              <a:rPr sz="1100" b="1" i="0">
                <a:solidFill>
                  <a:srgbClr val="111827"/>
                </a:solidFill>
                <a:latin typeface="Segoe UI"/>
              </a:rPr>
              <a:t>898 licence seats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 tracked — </a:t>
            </a:r>
            <a:r>
              <a:rPr sz="1100" b="1" i="0">
                <a:solidFill>
                  <a:srgbClr val="111827"/>
                </a:solidFill>
                <a:latin typeface="Segoe UI"/>
              </a:rPr>
              <a:t>99 sitting unused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950" b="0" i="0">
                <a:solidFill>
                  <a:srgbClr val="656C7A"/>
                </a:solidFill>
                <a:latin typeface="Consolas"/>
              </a:rPr>
              <a:t>·   </a:t>
            </a:r>
            <a:r>
              <a:rPr sz="1100" b="1" i="0">
                <a:solidFill>
                  <a:srgbClr val="111827"/>
                </a:solidFill>
                <a:latin typeface="Segoe UI"/>
              </a:rPr>
              <a:t>LKR 2.16m a year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 in seats nobody has opened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950" b="0" i="0">
                <a:solidFill>
                  <a:srgbClr val="656C7A"/>
                </a:solidFill>
                <a:latin typeface="Consolas"/>
              </a:rPr>
              <a:t>·   </a:t>
            </a:r>
            <a:r>
              <a:rPr sz="1100" b="1" i="0">
                <a:solidFill>
                  <a:srgbClr val="111827"/>
                </a:solidFill>
                <a:latin typeface="Segoe UI"/>
              </a:rPr>
              <a:t>3 of 11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 requests settled before anyone read them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950" b="0" i="0">
                <a:solidFill>
                  <a:srgbClr val="656C7A"/>
                </a:solidFill>
                <a:latin typeface="Consolas"/>
              </a:rPr>
              <a:t>·   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Software under active attack caught </a:t>
            </a:r>
            <a:r>
              <a:rPr sz="1100" b="1" i="0">
                <a:solidFill>
                  <a:srgbClr val="111827"/>
                </a:solidFill>
                <a:latin typeface="Segoe UI"/>
              </a:rPr>
              <a:t>before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 it is installed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950" b="0" i="0">
                <a:solidFill>
                  <a:srgbClr val="656C7A"/>
                </a:solidFill>
                <a:latin typeface="Consolas"/>
              </a:rPr>
              <a:t>·   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An audit file that assembles itself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550"/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1810512"/>
            <a:ext cx="5154015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7599" y="1956816"/>
            <a:ext cx="47516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B54708"/>
                </a:solidFill>
                <a:latin typeface="Segoe UI"/>
              </a:rPr>
              <a:t>Still to be measured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525"/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7599" y="2377440"/>
            <a:ext cx="4751679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950" b="0" i="0">
                <a:solidFill>
                  <a:srgbClr val="656C7A"/>
                </a:solidFill>
                <a:latin typeface="Consolas"/>
              </a:rPr>
              <a:t>1   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How many software requests arrive in a week?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950" b="0" i="0">
                <a:solidFill>
                  <a:srgbClr val="656C7A"/>
                </a:solidFill>
                <a:latin typeface="Consolas"/>
              </a:rPr>
              <a:t>2   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What share of them come back incomplete?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950" b="0" i="0">
                <a:solidFill>
                  <a:srgbClr val="656C7A"/>
                </a:solidFill>
                <a:latin typeface="Consolas"/>
              </a:rPr>
              <a:t>3   </a:t>
            </a:r>
            <a:r>
              <a:rPr sz="1100" b="0" i="0">
                <a:solidFill>
                  <a:srgbClr val="374151"/>
                </a:solidFill>
                <a:latin typeface="Segoe UI"/>
              </a:rPr>
              <a:t>How long does that round trip actually take?</a:t>
            </a:r>
          </a:p>
          <a:p>
            <a:pPr>
              <a:lnSpc>
                <a:spcPct val="150000"/>
              </a:lnSpc>
              <a:spcAft>
                <a:spcPts val="200"/>
              </a:spcAft>
            </a:pPr>
            <a:r>
              <a:rPr sz="550"/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288536"/>
            <a:ext cx="903791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150" b="0" i="0">
                <a:solidFill>
                  <a:srgbClr val="4B5563"/>
                </a:solidFill>
                <a:latin typeface="Segoe UI"/>
              </a:rPr>
              <a:t>Ten minutes with Operations turns the time saved from an estimate into evidence. Until then I am calling it an estimate. </a:t>
            </a:r>
            <a:r>
              <a:rPr sz="1150" b="1" i="0">
                <a:solidFill>
                  <a:srgbClr val="111827"/>
                </a:solidFill>
                <a:latin typeface="Segoe UI"/>
              </a:rPr>
              <a:t>It is running now, not a mockup — greenlight-umber.vercel.app.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4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4B5563"/>
                </a:solidFill>
                <a:latin typeface="Segoe UI"/>
              </a:rPr>
              <a:t>GreenLight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13232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656C7A"/>
                </a:solidFill>
                <a:latin typeface="Segoe UI"/>
              </a:rPr>
              <a:t>A P P L I C A B L E  D E P A R T M E N T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1050919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111827"/>
                </a:solidFill>
                <a:latin typeface="Segoe UI"/>
              </a:rPr>
              <a:t>Every department asks. One department decides.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10512"/>
            <a:ext cx="3368954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56816"/>
            <a:ext cx="296661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Everyone raises requests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Segoe UI"/>
              </a:rPr>
              <a:t>Delivery, QA, Marketing, Support, Infrastructure and Quality all ask for software. They get an answer in seconds, or a clear question 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1370" y="1810512"/>
            <a:ext cx="3368954" cy="1737360"/>
          </a:xfrm>
          <a:prstGeom prst="roundRect">
            <a:avLst>
              <a:gd name="adj" fmla="val 6000"/>
            </a:avLst>
          </a:prstGeom>
          <a:solidFill>
            <a:srgbClr val="E7F5EA"/>
          </a:solidFill>
          <a:ln w="12700">
            <a:solidFill>
              <a:srgbClr val="A8D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1956816"/>
            <a:ext cx="296661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Operations decides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Segoe UI"/>
              </a:rPr>
              <a:t>The approver, and the only role that can. They stop being the research desk and go back to being the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1492" y="1810512"/>
            <a:ext cx="3368954" cy="1737360"/>
          </a:xfrm>
          <a:prstGeom prst="roundRect">
            <a:avLst>
              <a:gd name="adj" fmla="val 6000"/>
            </a:avLst>
          </a:prstGeom>
          <a:solidFill>
            <a:srgbClr val="E3F4F7"/>
          </a:solidFill>
          <a:ln w="12700">
            <a:solidFill>
              <a:srgbClr val="9ED4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2660" y="1956816"/>
            <a:ext cx="296661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200" b="1" i="0">
                <a:solidFill>
                  <a:srgbClr val="111827"/>
                </a:solidFill>
                <a:latin typeface="Segoe UI"/>
              </a:rPr>
              <a:t>Finance, Legal and IT</a:t>
            </a:r>
          </a:p>
          <a:p>
            <a:pPr>
              <a:lnSpc>
                <a:spcPct val="134000"/>
              </a:lnSpc>
              <a:spcAft>
                <a:spcPts val="300"/>
              </a:spcAft>
            </a:pPr>
            <a:r>
              <a:rPr sz="1050" b="0" i="0">
                <a:solidFill>
                  <a:srgbClr val="374151"/>
                </a:solidFill>
                <a:latin typeface="Segoe UI"/>
              </a:rPr>
              <a:t>Spend that needs a budget owner, privacy law that needs an assessment, and what is permitted to run on company machines.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785616"/>
            <a:ext cx="90379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300" b="0" i="0">
                <a:solidFill>
                  <a:srgbClr val="374151"/>
                </a:solidFill>
                <a:latin typeface="Segoe UI"/>
              </a:rPr>
              <a:t>That is why this is submitted as </a:t>
            </a:r>
            <a:r>
              <a:rPr sz="1300" b="1" i="0">
                <a:solidFill>
                  <a:srgbClr val="111827"/>
                </a:solidFill>
                <a:latin typeface="Segoe UI"/>
              </a:rPr>
              <a:t>All</a:t>
            </a:r>
            <a:r>
              <a:rPr sz="1300" b="0" i="0">
                <a:solidFill>
                  <a:srgbClr val="374151"/>
                </a:solidFill>
                <a:latin typeface="Segoe UI"/>
              </a:rPr>
              <a:t> — the queue belongs to Operations, but the request belongs to everyone.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143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82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4B5563"/>
                </a:solidFill>
                <a:latin typeface="Segoe UI"/>
              </a:rPr>
              <a:t>GreenLight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13232"/>
            <a:ext cx="105091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  <a:spcAft>
                <a:spcPts val="0"/>
              </a:spcAft>
            </a:pPr>
            <a:r>
              <a:rPr sz="950" b="1" i="0">
                <a:solidFill>
                  <a:srgbClr val="656C7A"/>
                </a:solidFill>
                <a:latin typeface="Segoe UI"/>
              </a:rPr>
              <a:t>G R E E N L I G 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97280"/>
            <a:ext cx="1050919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111827"/>
                </a:solidFill>
                <a:latin typeface="Segoe UI"/>
              </a:rPr>
              <a:t>GreenLight never approves anything.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31720"/>
            <a:ext cx="1050919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1E7A32"/>
                </a:solidFill>
                <a:latin typeface="Segoe UI"/>
              </a:rPr>
              <a:t>It makes sure a person can.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97880"/>
            <a:ext cx="1050919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0"/>
              </a:spcAft>
            </a:pPr>
            <a:r>
              <a:rPr sz="850" b="0" i="0">
                <a:solidFill>
                  <a:srgbClr val="656C7A"/>
                </a:solidFill>
                <a:latin typeface="Segoe UI"/>
              </a:rPr>
              <a:t>BISTEC Global  ·  greenlight-umber.vercel.app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